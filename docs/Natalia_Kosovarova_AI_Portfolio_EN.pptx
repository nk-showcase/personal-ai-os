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github.com/nk-showcase/personal-ai-os" TargetMode="External"/><Relationship Id="rId4" Type="http://schemas.openxmlformats.org/officeDocument/2006/relationships/hyperlink" Target="https://www.linkedin.com/in/natalia-kosovarova" TargetMode="External"/><Relationship Id="rId5" Type="http://schemas.openxmlformats.org/officeDocument/2006/relationships/hyperlink" Target="mailto:natalia.kosovarova.work@gmail.com" TargetMode="External"/><Relationship Id="rId6" Type="http://schemas.openxmlformats.org/officeDocument/2006/relationships/hyperlink" Target="https://github.com/nk-showcase/personal-ai-o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4A"/>
        </a:solidFill>
      </p:bgPr>
    </p:bg>
    <p:spTree>
      <p:nvGrpSpPr>
        <p:cNvPr id="1" name=""/>
        <p:cNvGrpSpPr/>
        <p:nvPr/>
      </p:nvGrpSpPr>
      <p:grpSpPr>
        <a:xfrm>
          <a:off x="0" y="0"/>
          <a:ext cx="0" cy="0"/>
          <a:chOff x="0" y="0"/>
          <a:chExt cx="0" cy="0"/>
        </a:xfrm>
      </p:grpSpPr>
      <p:sp>
        <p:nvSpPr>
          <p:cNvPr id="2" name="Text 0"/>
          <p:cNvSpPr/>
          <p:nvPr/>
        </p:nvSpPr>
        <p:spPr>
          <a:xfrm>
            <a:off x="7863840" y="-2377440"/>
            <a:ext cx="6858000" cy="6858000"/>
          </a:xfrm>
          <a:prstGeom prst="ellipse">
            <a:avLst/>
          </a:prstGeom>
          <a:solidFill>
            <a:srgbClr val="2E6BD6">
              <a:alpha val="18000"/>
            </a:srgbClr>
          </a:solidFill>
          <a:ln/>
        </p:spPr>
        <p:txBody>
          <a:bodyPr wrap="square" rtlCol="0" anchor="ctr"/>
          <a:lstStyle/>
          <a:p>
            <a:pPr indent="0" marL="0">
              <a:buNone/>
            </a:pPr>
            <a:endParaRPr lang="en-US" dirty="0"/>
          </a:p>
        </p:txBody>
      </p:sp>
      <p:sp>
        <p:nvSpPr>
          <p:cNvPr id="3" name="Text 1"/>
          <p:cNvSpPr/>
          <p:nvPr/>
        </p:nvSpPr>
        <p:spPr>
          <a:xfrm>
            <a:off x="-2560320" y="4023360"/>
            <a:ext cx="6400800" cy="6400800"/>
          </a:xfrm>
          <a:prstGeom prst="ellipse">
            <a:avLst/>
          </a:prstGeom>
          <a:solidFill>
            <a:srgbClr val="0F8CBE">
              <a:alpha val="14000"/>
            </a:srgbClr>
          </a:solidFill>
          <a:ln/>
        </p:spPr>
        <p:txBody>
          <a:bodyPr wrap="square" rtlCol="0" anchor="ctr"/>
          <a:lstStyle/>
          <a:p>
            <a:pPr indent="0" marL="0">
              <a:buNone/>
            </a:pPr>
            <a:endParaRPr lang="en-US" dirty="0"/>
          </a:p>
        </p:txBody>
      </p:sp>
      <p:sp>
        <p:nvSpPr>
          <p:cNvPr id="4" name="Text 2"/>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Natalia Kosovarova</a:t>
            </a:r>
            <a:pPr indent="0" marL="0">
              <a:buNone/>
            </a:pPr>
            <a:r>
              <a:rPr lang="en-US" sz="1300" dirty="0">
                <a:solidFill>
                  <a:srgbClr val="B9C7E4"/>
                </a:solidFill>
                <a:latin typeface="Arial" pitchFamily="34" charset="0"/>
                <a:ea typeface="Arial" pitchFamily="34" charset="-122"/>
                <a:cs typeface="Arial" pitchFamily="34" charset="-120"/>
              </a:rPr>
              <a:t> · Business Analysis Team Lead · Telecom</a:t>
            </a:r>
            <a:endParaRPr lang="en-US" sz="1300" dirty="0"/>
          </a:p>
        </p:txBody>
      </p:sp>
      <p:sp>
        <p:nvSpPr>
          <p:cNvPr id="5" name="Text 3"/>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B9C7E4"/>
                </a:solidFill>
                <a:latin typeface="Arial" pitchFamily="34" charset="0"/>
                <a:ea typeface="Arial" pitchFamily="34" charset="-122"/>
                <a:cs typeface="Arial" pitchFamily="34" charset="-120"/>
              </a:rPr>
              <a:t>August 2026</a:t>
            </a:r>
            <a:endParaRPr lang="en-US" sz="1300" dirty="0"/>
          </a:p>
        </p:txBody>
      </p:sp>
      <p:sp>
        <p:nvSpPr>
          <p:cNvPr id="6" name="Text 4"/>
          <p:cNvSpPr/>
          <p:nvPr/>
        </p:nvSpPr>
        <p:spPr>
          <a:xfrm>
            <a:off x="658368" y="2286000"/>
            <a:ext cx="10424160" cy="1691640"/>
          </a:xfrm>
          <a:prstGeom prst="rect">
            <a:avLst/>
          </a:prstGeom>
          <a:noFill/>
          <a:ln/>
        </p:spPr>
        <p:txBody>
          <a:bodyPr wrap="square" lIns="0" tIns="0" rIns="0" bIns="0" rtlCol="0" anchor="t"/>
          <a:lstStyle/>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AI Automation for a</a:t>
            </a:r>
            <a:endParaRPr lang="en-US" sz="4000" dirty="0"/>
          </a:p>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Business Analysis Team</a:t>
            </a:r>
            <a:endParaRPr lang="en-US" sz="4000" dirty="0"/>
          </a:p>
        </p:txBody>
      </p:sp>
      <p:sp>
        <p:nvSpPr>
          <p:cNvPr id="7" name="Text 5"/>
          <p:cNvSpPr/>
          <p:nvPr/>
        </p:nvSpPr>
        <p:spPr>
          <a:xfrm>
            <a:off x="658368" y="4389120"/>
            <a:ext cx="9692640" cy="822960"/>
          </a:xfrm>
          <a:prstGeom prst="rect">
            <a:avLst/>
          </a:prstGeom>
          <a:noFill/>
          <a:ln/>
        </p:spPr>
        <p:txBody>
          <a:bodyPr wrap="square" lIns="0" tIns="0" rIns="0" bIns="0" rtlCol="0" anchor="t"/>
          <a:lstStyle/>
          <a:p>
            <a:pPr indent="0" marL="0">
              <a:lnSpc>
                <a:spcPct val="130000"/>
              </a:lnSpc>
              <a:buNone/>
            </a:pPr>
            <a:r>
              <a:rPr lang="en-US" sz="1800" dirty="0">
                <a:solidFill>
                  <a:srgbClr val="B9C7E4"/>
                </a:solidFill>
                <a:latin typeface="Arial" pitchFamily="34" charset="0"/>
                <a:ea typeface="Arial" pitchFamily="34" charset="-122"/>
                <a:cs typeface="Arial" pitchFamily="34" charset="-120"/>
              </a:rPr>
              <a:t>Practical examples of automating internal processes on an OSS/BSS project</a:t>
            </a:r>
            <a:endParaRPr lang="en-US" sz="1800" dirty="0"/>
          </a:p>
          <a:p>
            <a:pPr indent="0" marL="0">
              <a:lnSpc>
                <a:spcPct val="130000"/>
              </a:lnSpc>
              <a:buNone/>
            </a:pPr>
            <a:r>
              <a:rPr lang="en-US" sz="1800" dirty="0">
                <a:solidFill>
                  <a:srgbClr val="B9C7E4"/>
                </a:solidFill>
                <a:latin typeface="Arial" pitchFamily="34" charset="0"/>
                <a:ea typeface="Arial" pitchFamily="34" charset="-122"/>
                <a:cs typeface="Arial" pitchFamily="34" charset="-120"/>
              </a:rPr>
              <a:t>Sparx EA, Confluence, Jira, and a low-code platform · February - June 2026</a:t>
            </a:r>
            <a:endParaRPr lang="en-US" sz="18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6B7280"/>
                </a:solidFill>
                <a:latin typeface="Arial" pitchFamily="34" charset="0"/>
                <a:ea typeface="Arial" pitchFamily="34" charset="-122"/>
                <a:cs typeface="Arial" pitchFamily="34" charset="-120"/>
              </a:rPr>
              <a:t>About Me</a:t>
            </a:r>
            <a:endParaRPr lang="en-US" sz="1300" dirty="0"/>
          </a:p>
        </p:txBody>
      </p:sp>
      <p:sp>
        <p:nvSpPr>
          <p:cNvPr id="4" name="Text 2"/>
          <p:cNvSpPr/>
          <p:nvPr/>
        </p:nvSpPr>
        <p:spPr>
          <a:xfrm>
            <a:off x="658368" y="868680"/>
            <a:ext cx="10872216" cy="73152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Business Analysis Team Lead with Hands-on AI Automation Experience</a:t>
            </a:r>
            <a:endParaRPr lang="en-US" sz="2900" dirty="0"/>
          </a:p>
        </p:txBody>
      </p:sp>
      <p:sp>
        <p:nvSpPr>
          <p:cNvPr id="5" name="Text 3"/>
          <p:cNvSpPr/>
          <p:nvPr/>
        </p:nvSpPr>
        <p:spPr>
          <a:xfrm>
            <a:off x="658368" y="1874520"/>
            <a:ext cx="7315200" cy="1389888"/>
          </a:xfrm>
          <a:prstGeom prst="roundRect">
            <a:avLst>
              <a:gd name="adj" fmla="val 5461"/>
            </a:avLst>
          </a:prstGeom>
          <a:solidFill>
            <a:srgbClr val="F2F6FC"/>
          </a:solidFill>
          <a:ln w="12700">
            <a:solidFill>
              <a:srgbClr val="DDE2E9"/>
            </a:solidFill>
          </a:ln>
        </p:spPr>
        <p:txBody>
          <a:bodyPr wrap="square" rtlCol="0" anchor="ctr"/>
          <a:lstStyle/>
          <a:p>
            <a:pPr indent="0" marL="0">
              <a:buNone/>
            </a:pPr>
            <a:endParaRPr lang="en-US" dirty="0"/>
          </a:p>
        </p:txBody>
      </p:sp>
      <p:sp>
        <p:nvSpPr>
          <p:cNvPr id="6" name="Text 4"/>
          <p:cNvSpPr/>
          <p:nvPr/>
        </p:nvSpPr>
        <p:spPr>
          <a:xfrm>
            <a:off x="877824" y="2002536"/>
            <a:ext cx="690372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Expertise</a:t>
            </a:r>
            <a:endParaRPr lang="en-US" sz="1400" dirty="0"/>
          </a:p>
        </p:txBody>
      </p:sp>
      <p:sp>
        <p:nvSpPr>
          <p:cNvPr id="7" name="Text 5"/>
          <p:cNvSpPr/>
          <p:nvPr/>
        </p:nvSpPr>
        <p:spPr>
          <a:xfrm>
            <a:off x="877824" y="2313432"/>
            <a:ext cx="6903720" cy="841248"/>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System and business analysis for telecom OSS/BSS solutions, covering the end-to-end order journey across multiple systems, from order capture to technical service activation. Led a team of up to six business analysts.</a:t>
            </a:r>
            <a:endParaRPr lang="en-US" sz="1250" dirty="0"/>
          </a:p>
        </p:txBody>
      </p:sp>
      <p:sp>
        <p:nvSpPr>
          <p:cNvPr id="8" name="Text 6"/>
          <p:cNvSpPr/>
          <p:nvPr/>
        </p:nvSpPr>
        <p:spPr>
          <a:xfrm>
            <a:off x="658368" y="3374136"/>
            <a:ext cx="7315200" cy="1389888"/>
          </a:xfrm>
          <a:prstGeom prst="roundRect">
            <a:avLst>
              <a:gd name="adj" fmla="val 5461"/>
            </a:avLst>
          </a:prstGeom>
          <a:solidFill>
            <a:srgbClr val="F2F6FC"/>
          </a:solidFill>
          <a:ln w="12700">
            <a:solidFill>
              <a:srgbClr val="DDE2E9"/>
            </a:solidFill>
          </a:ln>
        </p:spPr>
        <p:txBody>
          <a:bodyPr wrap="square" rtlCol="0" anchor="ctr"/>
          <a:lstStyle/>
          <a:p>
            <a:pPr indent="0" marL="0">
              <a:buNone/>
            </a:pPr>
            <a:endParaRPr lang="en-US" dirty="0"/>
          </a:p>
        </p:txBody>
      </p:sp>
      <p:sp>
        <p:nvSpPr>
          <p:cNvPr id="9" name="Text 7"/>
          <p:cNvSpPr/>
          <p:nvPr/>
        </p:nvSpPr>
        <p:spPr>
          <a:xfrm>
            <a:off x="877824" y="3502152"/>
            <a:ext cx="690372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Automation</a:t>
            </a:r>
            <a:endParaRPr lang="en-US" sz="1400" dirty="0"/>
          </a:p>
        </p:txBody>
      </p:sp>
      <p:sp>
        <p:nvSpPr>
          <p:cNvPr id="10" name="Text 8"/>
          <p:cNvSpPr/>
          <p:nvPr/>
        </p:nvSpPr>
        <p:spPr>
          <a:xfrm>
            <a:off x="877824" y="3813048"/>
            <a:ext cx="6903720" cy="841248"/>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From February to June 2026, created tools to automate my team's work. Designed the architecture and logic, defined implementation requirements, and reviewed the final results. Code was developed with Claude Code and validated with OpenAI Codex.</a:t>
            </a:r>
            <a:endParaRPr lang="en-US" sz="1250" dirty="0"/>
          </a:p>
        </p:txBody>
      </p:sp>
      <p:sp>
        <p:nvSpPr>
          <p:cNvPr id="11" name="Text 9"/>
          <p:cNvSpPr/>
          <p:nvPr/>
        </p:nvSpPr>
        <p:spPr>
          <a:xfrm>
            <a:off x="658368" y="4873752"/>
            <a:ext cx="7315200" cy="1389888"/>
          </a:xfrm>
          <a:prstGeom prst="roundRect">
            <a:avLst>
              <a:gd name="adj" fmla="val 5461"/>
            </a:avLst>
          </a:prstGeom>
          <a:solidFill>
            <a:srgbClr val="F2F6FC"/>
          </a:solidFill>
          <a:ln w="12700">
            <a:solidFill>
              <a:srgbClr val="DDE2E9"/>
            </a:solidFill>
          </a:ln>
        </p:spPr>
        <p:txBody>
          <a:bodyPr wrap="square" rtlCol="0" anchor="ctr"/>
          <a:lstStyle/>
          <a:p>
            <a:pPr indent="0" marL="0">
              <a:buNone/>
            </a:pPr>
            <a:endParaRPr lang="en-US" dirty="0"/>
          </a:p>
        </p:txBody>
      </p:sp>
      <p:sp>
        <p:nvSpPr>
          <p:cNvPr id="12" name="Text 10"/>
          <p:cNvSpPr/>
          <p:nvPr/>
        </p:nvSpPr>
        <p:spPr>
          <a:xfrm>
            <a:off x="877824" y="5001768"/>
            <a:ext cx="690372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Result</a:t>
            </a:r>
            <a:endParaRPr lang="en-US" sz="1400" dirty="0"/>
          </a:p>
        </p:txBody>
      </p:sp>
      <p:sp>
        <p:nvSpPr>
          <p:cNvPr id="13" name="Text 11"/>
          <p:cNvSpPr/>
          <p:nvPr/>
        </p:nvSpPr>
        <p:spPr>
          <a:xfrm>
            <a:off x="877824" y="5312664"/>
            <a:ext cx="6903720" cy="841248"/>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Fewer repetitive tasks and errors, more time for analysis, and clearer visibility into workload and progress.</a:t>
            </a:r>
            <a:endParaRPr lang="en-US" sz="1250" dirty="0"/>
          </a:p>
        </p:txBody>
      </p:sp>
      <p:pic>
        <p:nvPicPr>
          <p:cNvPr id="14" name="Image 0" descr="/Users/natalia_kosovarova/Claude/Projects/Personal/Claude Automation Portfolio/Sources/Claude_about_photo_AJ0A3710.jpg">    </p:cNvPr>
          <p:cNvPicPr>
            <a:picLocks noChangeAspect="1"/>
          </p:cNvPicPr>
          <p:nvPr/>
        </p:nvPicPr>
        <p:blipFill>
          <a:blip r:embed="rId1"/>
          <a:stretch>
            <a:fillRect/>
          </a:stretch>
        </p:blipFill>
        <p:spPr>
          <a:xfrm>
            <a:off x="8238744" y="1874520"/>
            <a:ext cx="3291840" cy="4389120"/>
          </a:xfrm>
          <a:prstGeom prst="rect">
            <a:avLst/>
          </a:prstGeom>
        </p:spPr>
      </p:pic>
      <p:sp>
        <p:nvSpPr>
          <p:cNvPr id="15" name="Text 12"/>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6B7280"/>
                </a:solidFill>
                <a:latin typeface="Arial" pitchFamily="34" charset="0"/>
                <a:ea typeface="Arial" pitchFamily="34" charset="-122"/>
                <a:cs typeface="Arial" pitchFamily="34" charset="-120"/>
              </a:rPr>
              <a:t>In brief</a:t>
            </a:r>
            <a:endParaRPr lang="en-US" sz="1300" dirty="0"/>
          </a:p>
        </p:txBody>
      </p:sp>
      <p:sp>
        <p:nvSpPr>
          <p:cNvPr id="4" name="Text 2"/>
          <p:cNvSpPr/>
          <p:nvPr/>
        </p:nvSpPr>
        <p:spPr>
          <a:xfrm>
            <a:off x="658368" y="868680"/>
            <a:ext cx="10872216" cy="54864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Tools Delivered in Weeks, Not Months</a:t>
            </a:r>
            <a:endParaRPr lang="en-US" sz="2900" dirty="0"/>
          </a:p>
        </p:txBody>
      </p:sp>
      <p:sp>
        <p:nvSpPr>
          <p:cNvPr id="5" name="Text 3"/>
          <p:cNvSpPr/>
          <p:nvPr/>
        </p:nvSpPr>
        <p:spPr>
          <a:xfrm>
            <a:off x="658368" y="1481328"/>
            <a:ext cx="10872216" cy="320040"/>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Estimated manual effort reduction: 20 to 150+ hours per use case</a:t>
            </a:r>
            <a:endParaRPr lang="en-US" sz="1500" dirty="0"/>
          </a:p>
        </p:txBody>
      </p:sp>
      <p:sp>
        <p:nvSpPr>
          <p:cNvPr id="6" name="Text 4"/>
          <p:cNvSpPr/>
          <p:nvPr/>
        </p:nvSpPr>
        <p:spPr>
          <a:xfrm>
            <a:off x="658368" y="2148840"/>
            <a:ext cx="3429000" cy="2514600"/>
          </a:xfrm>
          <a:prstGeom prst="roundRect">
            <a:avLst>
              <a:gd name="adj" fmla="val 3018"/>
            </a:avLst>
          </a:prstGeom>
          <a:solidFill>
            <a:srgbClr val="F2F6FC"/>
          </a:solidFill>
          <a:ln w="12700">
            <a:solidFill>
              <a:srgbClr val="DDE2E9"/>
            </a:solidFill>
          </a:ln>
        </p:spPr>
        <p:txBody>
          <a:bodyPr wrap="square" rtlCol="0" anchor="ctr"/>
          <a:lstStyle/>
          <a:p>
            <a:pPr indent="0" marL="0">
              <a:buNone/>
            </a:pPr>
            <a:endParaRPr lang="en-US" dirty="0"/>
          </a:p>
        </p:txBody>
      </p:sp>
      <p:sp>
        <p:nvSpPr>
          <p:cNvPr id="7" name="Text 5"/>
          <p:cNvSpPr/>
          <p:nvPr/>
        </p:nvSpPr>
        <p:spPr>
          <a:xfrm>
            <a:off x="914400" y="2404872"/>
            <a:ext cx="384048" cy="384048"/>
          </a:xfrm>
          <a:prstGeom prst="roundRect">
            <a:avLst>
              <a:gd name="adj" fmla="val 16667"/>
            </a:avLst>
          </a:prstGeom>
          <a:solidFill>
            <a:srgbClr val="16355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1435608" y="2432304"/>
            <a:ext cx="2468880" cy="329184"/>
          </a:xfrm>
          <a:prstGeom prst="rect">
            <a:avLst/>
          </a:prstGeom>
          <a:noFill/>
          <a:ln/>
        </p:spPr>
        <p:txBody>
          <a:bodyPr wrap="square" lIns="0" tIns="0" rIns="0" bIns="0" rtlCol="0" anchor="ctr"/>
          <a:lstStyle/>
          <a:p>
            <a:pPr indent="0" marL="0">
              <a:buNone/>
            </a:pPr>
            <a:r>
              <a:rPr lang="en-US" sz="1500" b="1" dirty="0">
                <a:solidFill>
                  <a:srgbClr val="1A2233"/>
                </a:solidFill>
                <a:latin typeface="Arial" pitchFamily="34" charset="0"/>
                <a:ea typeface="Arial" pitchFamily="34" charset="-122"/>
                <a:cs typeface="Arial" pitchFamily="34" charset="-120"/>
              </a:rPr>
              <a:t>Situation</a:t>
            </a:r>
            <a:endParaRPr lang="en-US" sz="1500" dirty="0"/>
          </a:p>
        </p:txBody>
      </p:sp>
      <p:sp>
        <p:nvSpPr>
          <p:cNvPr id="9" name="Text 7"/>
          <p:cNvSpPr/>
          <p:nvPr/>
        </p:nvSpPr>
        <p:spPr>
          <a:xfrm>
            <a:off x="914400" y="2971800"/>
            <a:ext cx="2926080" cy="1554480"/>
          </a:xfrm>
          <a:prstGeom prst="rect">
            <a:avLst/>
          </a:prstGeom>
          <a:noFill/>
          <a:ln/>
        </p:spPr>
        <p:txBody>
          <a:bodyPr wrap="square" lIns="0" tIns="0" rIns="0" bIns="0" rtlCol="0" anchor="t"/>
          <a:lstStyle/>
          <a:p>
            <a:pPr indent="0" marL="0">
              <a:lnSpc>
                <a:spcPct val="125000"/>
              </a:lnSpc>
              <a:buNone/>
            </a:pPr>
            <a:r>
              <a:rPr lang="en-US" sz="1350" dirty="0">
                <a:solidFill>
                  <a:srgbClr val="3A4354"/>
                </a:solidFill>
                <a:latin typeface="Arial" pitchFamily="34" charset="0"/>
                <a:ea typeface="Arial" pitchFamily="34" charset="-122"/>
                <a:cs typeface="Arial" pitchFamily="34" charset="-120"/>
              </a:rPr>
              <a:t>Preparing documentation involved repetitive manual work: exporting data, redrawing diagrams, reconciling information, and compiling status updates.</a:t>
            </a:r>
            <a:endParaRPr lang="en-US" sz="1350" dirty="0"/>
          </a:p>
        </p:txBody>
      </p:sp>
      <p:sp>
        <p:nvSpPr>
          <p:cNvPr id="10" name="Text 8"/>
          <p:cNvSpPr/>
          <p:nvPr/>
        </p:nvSpPr>
        <p:spPr>
          <a:xfrm>
            <a:off x="4407408" y="2148840"/>
            <a:ext cx="3429000" cy="2514600"/>
          </a:xfrm>
          <a:prstGeom prst="roundRect">
            <a:avLst>
              <a:gd name="adj" fmla="val 3018"/>
            </a:avLst>
          </a:prstGeom>
          <a:solidFill>
            <a:srgbClr val="F2F6FC"/>
          </a:solidFill>
          <a:ln w="12700">
            <a:solidFill>
              <a:srgbClr val="DDE2E9"/>
            </a:solidFill>
          </a:ln>
        </p:spPr>
        <p:txBody>
          <a:bodyPr wrap="square" rtlCol="0" anchor="ctr"/>
          <a:lstStyle/>
          <a:p>
            <a:pPr indent="0" marL="0">
              <a:buNone/>
            </a:pPr>
            <a:endParaRPr lang="en-US" dirty="0"/>
          </a:p>
        </p:txBody>
      </p:sp>
      <p:sp>
        <p:nvSpPr>
          <p:cNvPr id="11" name="Text 9"/>
          <p:cNvSpPr/>
          <p:nvPr/>
        </p:nvSpPr>
        <p:spPr>
          <a:xfrm>
            <a:off x="4663440" y="2404872"/>
            <a:ext cx="384048" cy="384048"/>
          </a:xfrm>
          <a:prstGeom prst="roundRect">
            <a:avLst>
              <a:gd name="adj" fmla="val 16667"/>
            </a:avLst>
          </a:prstGeom>
          <a:solidFill>
            <a:srgbClr val="16355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5184648" y="2432304"/>
            <a:ext cx="2468880" cy="329184"/>
          </a:xfrm>
          <a:prstGeom prst="rect">
            <a:avLst/>
          </a:prstGeom>
          <a:noFill/>
          <a:ln/>
        </p:spPr>
        <p:txBody>
          <a:bodyPr wrap="square" lIns="0" tIns="0" rIns="0" bIns="0" rtlCol="0" anchor="ctr"/>
          <a:lstStyle/>
          <a:p>
            <a:pPr indent="0" marL="0">
              <a:buNone/>
            </a:pPr>
            <a:r>
              <a:rPr lang="en-US" sz="1500" b="1" dirty="0">
                <a:solidFill>
                  <a:srgbClr val="1A2233"/>
                </a:solidFill>
                <a:latin typeface="Arial" pitchFamily="34" charset="0"/>
                <a:ea typeface="Arial" pitchFamily="34" charset="-122"/>
                <a:cs typeface="Arial" pitchFamily="34" charset="-120"/>
              </a:rPr>
              <a:t>Problem</a:t>
            </a:r>
            <a:endParaRPr lang="en-US" sz="1500" dirty="0"/>
          </a:p>
        </p:txBody>
      </p:sp>
      <p:sp>
        <p:nvSpPr>
          <p:cNvPr id="13" name="Text 11"/>
          <p:cNvSpPr/>
          <p:nvPr/>
        </p:nvSpPr>
        <p:spPr>
          <a:xfrm>
            <a:off x="4663440" y="2971800"/>
            <a:ext cx="2926080" cy="1554480"/>
          </a:xfrm>
          <a:prstGeom prst="rect">
            <a:avLst/>
          </a:prstGeom>
          <a:noFill/>
          <a:ln/>
        </p:spPr>
        <p:txBody>
          <a:bodyPr wrap="square" lIns="0" tIns="0" rIns="0" bIns="0" rtlCol="0" anchor="t"/>
          <a:lstStyle/>
          <a:p>
            <a:pPr indent="0" marL="0">
              <a:lnSpc>
                <a:spcPct val="125000"/>
              </a:lnSpc>
              <a:buNone/>
            </a:pPr>
            <a:r>
              <a:rPr lang="en-US" sz="1350" dirty="0">
                <a:solidFill>
                  <a:srgbClr val="3A4354"/>
                </a:solidFill>
                <a:latin typeface="Arial" pitchFamily="34" charset="0"/>
                <a:ea typeface="Arial" pitchFamily="34" charset="-122"/>
                <a:cs typeface="Arial" pitchFamily="34" charset="-120"/>
              </a:rPr>
              <a:t>For narrow use cases, conventional automation was not cost-effective: it required integrations, approvals, and months of development. As a result, repetitive operations continued to be performed manually.</a:t>
            </a:r>
            <a:endParaRPr lang="en-US" sz="1350" dirty="0"/>
          </a:p>
        </p:txBody>
      </p:sp>
      <p:sp>
        <p:nvSpPr>
          <p:cNvPr id="14" name="Text 12"/>
          <p:cNvSpPr/>
          <p:nvPr/>
        </p:nvSpPr>
        <p:spPr>
          <a:xfrm>
            <a:off x="8156448" y="2148840"/>
            <a:ext cx="3429000" cy="2514600"/>
          </a:xfrm>
          <a:prstGeom prst="roundRect">
            <a:avLst>
              <a:gd name="adj" fmla="val 3018"/>
            </a:avLst>
          </a:prstGeom>
          <a:solidFill>
            <a:srgbClr val="F2F6FC"/>
          </a:solidFill>
          <a:ln w="12700">
            <a:solidFill>
              <a:srgbClr val="DDE2E9"/>
            </a:solidFill>
          </a:ln>
        </p:spPr>
        <p:txBody>
          <a:bodyPr wrap="square" rtlCol="0" anchor="ctr"/>
          <a:lstStyle/>
          <a:p>
            <a:pPr indent="0" marL="0">
              <a:buNone/>
            </a:pPr>
            <a:endParaRPr lang="en-US" dirty="0"/>
          </a:p>
        </p:txBody>
      </p:sp>
      <p:sp>
        <p:nvSpPr>
          <p:cNvPr id="15" name="Text 13"/>
          <p:cNvSpPr/>
          <p:nvPr/>
        </p:nvSpPr>
        <p:spPr>
          <a:xfrm>
            <a:off x="8412480" y="2404872"/>
            <a:ext cx="384048" cy="384048"/>
          </a:xfrm>
          <a:prstGeom prst="roundRect">
            <a:avLst>
              <a:gd name="adj" fmla="val 16667"/>
            </a:avLst>
          </a:prstGeom>
          <a:solidFill>
            <a:srgbClr val="16355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8933688" y="2432304"/>
            <a:ext cx="2468880" cy="329184"/>
          </a:xfrm>
          <a:prstGeom prst="rect">
            <a:avLst/>
          </a:prstGeom>
          <a:noFill/>
          <a:ln/>
        </p:spPr>
        <p:txBody>
          <a:bodyPr wrap="square" lIns="0" tIns="0" rIns="0" bIns="0" rtlCol="0" anchor="ctr"/>
          <a:lstStyle/>
          <a:p>
            <a:pPr indent="0" marL="0">
              <a:buNone/>
            </a:pPr>
            <a:r>
              <a:rPr lang="en-US" sz="1500" b="1" dirty="0">
                <a:solidFill>
                  <a:srgbClr val="1A2233"/>
                </a:solidFill>
                <a:latin typeface="Arial" pitchFamily="34" charset="0"/>
                <a:ea typeface="Arial" pitchFamily="34" charset="-122"/>
                <a:cs typeface="Arial" pitchFamily="34" charset="-120"/>
              </a:rPr>
              <a:t>Solution</a:t>
            </a:r>
            <a:endParaRPr lang="en-US" sz="1500" dirty="0"/>
          </a:p>
        </p:txBody>
      </p:sp>
      <p:sp>
        <p:nvSpPr>
          <p:cNvPr id="17" name="Text 15"/>
          <p:cNvSpPr/>
          <p:nvPr/>
        </p:nvSpPr>
        <p:spPr>
          <a:xfrm>
            <a:off x="8412480" y="2971800"/>
            <a:ext cx="2926080" cy="1554480"/>
          </a:xfrm>
          <a:prstGeom prst="rect">
            <a:avLst/>
          </a:prstGeom>
          <a:noFill/>
          <a:ln/>
        </p:spPr>
        <p:txBody>
          <a:bodyPr wrap="square" lIns="0" tIns="0" rIns="0" bIns="0" rtlCol="0" anchor="t"/>
          <a:lstStyle/>
          <a:p>
            <a:pPr indent="0" marL="0">
              <a:lnSpc>
                <a:spcPct val="125000"/>
              </a:lnSpc>
              <a:buNone/>
            </a:pPr>
            <a:r>
              <a:rPr lang="en-US" sz="1350" dirty="0">
                <a:solidFill>
                  <a:srgbClr val="3A4354"/>
                </a:solidFill>
                <a:latin typeface="Arial" pitchFamily="34" charset="0"/>
                <a:ea typeface="Arial" pitchFamily="34" charset="-122"/>
                <a:cs typeface="Arial" pitchFamily="34" charset="-120"/>
              </a:rPr>
              <a:t>Purpose-built tools were created for specific manual operations and integrated with Jira, Confluence, Sparx EA, and the low-code platform. AI agents accelerated implementation of business logic and integrations.</a:t>
            </a:r>
            <a:endParaRPr lang="en-US" sz="1350" dirty="0"/>
          </a:p>
        </p:txBody>
      </p:sp>
      <p:sp>
        <p:nvSpPr>
          <p:cNvPr id="18" name="Text 16"/>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3</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15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6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par>
                    <p:cTn id="63" fill="hold">
                      <p:stCondLst>
                        <p:cond delay="18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par>
                    <p:cTn id="67" fill="hold">
                      <p:stCondLst>
                        <p:cond delay="19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6B7280"/>
                </a:solidFill>
                <a:latin typeface="Arial" pitchFamily="34" charset="0"/>
                <a:ea typeface="Arial" pitchFamily="34" charset="-122"/>
                <a:cs typeface="Arial" pitchFamily="34" charset="-120"/>
              </a:rPr>
              <a:t>Overview</a:t>
            </a:r>
            <a:endParaRPr lang="en-US" sz="1300" dirty="0"/>
          </a:p>
        </p:txBody>
      </p:sp>
      <p:sp>
        <p:nvSpPr>
          <p:cNvPr id="4" name="Text 2"/>
          <p:cNvSpPr/>
          <p:nvPr/>
        </p:nvSpPr>
        <p:spPr>
          <a:xfrm>
            <a:off x="658368" y="868680"/>
            <a:ext cx="10872216" cy="54864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Tool Examples</a:t>
            </a:r>
            <a:endParaRPr lang="en-US" sz="2900" dirty="0"/>
          </a:p>
        </p:txBody>
      </p:sp>
      <p:sp>
        <p:nvSpPr>
          <p:cNvPr id="5" name="Text 3"/>
          <p:cNvSpPr/>
          <p:nvPr/>
        </p:nvSpPr>
        <p:spPr>
          <a:xfrm>
            <a:off x="658368" y="1170432"/>
            <a:ext cx="2743200" cy="457200"/>
          </a:xfrm>
          <a:prstGeom prst="rect">
            <a:avLst/>
          </a:prstGeom>
          <a:noFill/>
          <a:ln/>
        </p:spPr>
        <p:txBody>
          <a:bodyPr wrap="square" lIns="0" tIns="0" rIns="0" bIns="0" rtlCol="0" anchor="b"/>
          <a:lstStyle/>
          <a:p>
            <a:pPr indent="0" marL="0">
              <a:buNone/>
            </a:pPr>
            <a:r>
              <a:rPr lang="en-US" sz="1100" b="1" dirty="0">
                <a:solidFill>
                  <a:srgbClr val="6B7280"/>
                </a:solidFill>
                <a:latin typeface="Arial" pitchFamily="34" charset="0"/>
                <a:ea typeface="Arial" pitchFamily="34" charset="-122"/>
                <a:cs typeface="Arial" pitchFamily="34" charset="-120"/>
              </a:rPr>
              <a:t>Use Case</a:t>
            </a:r>
            <a:endParaRPr lang="en-US" sz="1100" dirty="0"/>
          </a:p>
        </p:txBody>
      </p:sp>
      <p:sp>
        <p:nvSpPr>
          <p:cNvPr id="6" name="Text 4"/>
          <p:cNvSpPr/>
          <p:nvPr/>
        </p:nvSpPr>
        <p:spPr>
          <a:xfrm>
            <a:off x="6446520" y="1170432"/>
            <a:ext cx="2423160" cy="457200"/>
          </a:xfrm>
          <a:prstGeom prst="rect">
            <a:avLst/>
          </a:prstGeom>
          <a:noFill/>
          <a:ln/>
        </p:spPr>
        <p:txBody>
          <a:bodyPr wrap="square" lIns="0" tIns="0" rIns="0" bIns="0" rtlCol="0" anchor="b"/>
          <a:lstStyle/>
          <a:p>
            <a:pPr indent="0" marL="0">
              <a:buNone/>
            </a:pPr>
            <a:r>
              <a:rPr lang="en-US" sz="1100" b="1" dirty="0">
                <a:solidFill>
                  <a:srgbClr val="6B7280"/>
                </a:solidFill>
                <a:latin typeface="Arial" pitchFamily="34" charset="0"/>
                <a:ea typeface="Arial" pitchFamily="34" charset="-122"/>
                <a:cs typeface="Arial" pitchFamily="34" charset="-120"/>
              </a:rPr>
              <a:t>Manual Effort Reduction</a:t>
            </a:r>
            <a:endParaRPr lang="en-US" sz="1100" dirty="0"/>
          </a:p>
        </p:txBody>
      </p:sp>
      <p:sp>
        <p:nvSpPr>
          <p:cNvPr id="7" name="Text 5"/>
          <p:cNvSpPr/>
          <p:nvPr/>
        </p:nvSpPr>
        <p:spPr>
          <a:xfrm>
            <a:off x="8961120" y="1170432"/>
            <a:ext cx="2560320" cy="457200"/>
          </a:xfrm>
          <a:prstGeom prst="rect">
            <a:avLst/>
          </a:prstGeom>
          <a:noFill/>
          <a:ln/>
        </p:spPr>
        <p:txBody>
          <a:bodyPr wrap="square" lIns="0" tIns="0" rIns="0" bIns="0" rtlCol="0" anchor="b"/>
          <a:lstStyle/>
          <a:p>
            <a:pPr algn="r" indent="0" marL="0">
              <a:buNone/>
            </a:pPr>
            <a:r>
              <a:rPr lang="en-US" sz="1100" b="1" dirty="0">
                <a:solidFill>
                  <a:srgbClr val="6B7280"/>
                </a:solidFill>
                <a:latin typeface="Arial" pitchFamily="34" charset="0"/>
                <a:ea typeface="Arial" pitchFamily="34" charset="-122"/>
                <a:cs typeface="Arial" pitchFamily="34" charset="-120"/>
              </a:rPr>
              <a:t>Tool</a:t>
            </a:r>
            <a:endParaRPr lang="en-US" sz="1100" dirty="0"/>
          </a:p>
        </p:txBody>
      </p:sp>
      <p:sp>
        <p:nvSpPr>
          <p:cNvPr id="8" name="Text 6"/>
          <p:cNvSpPr/>
          <p:nvPr/>
        </p:nvSpPr>
        <p:spPr>
          <a:xfrm>
            <a:off x="658368" y="1691640"/>
            <a:ext cx="10872216" cy="0"/>
          </a:xfrm>
          <a:prstGeom prst="line">
            <a:avLst/>
          </a:prstGeom>
          <a:noFill/>
          <a:ln w="25400">
            <a:solidFill>
              <a:srgbClr val="1A2233"/>
            </a:solidFill>
            <a:prstDash val="solid"/>
          </a:ln>
        </p:spPr>
        <p:txBody>
          <a:bodyPr wrap="square" rtlCol="0" anchor="ctr"/>
          <a:lstStyle/>
          <a:p>
            <a:pPr indent="0" marL="0">
              <a:buNone/>
            </a:pPr>
            <a:endParaRPr lang="en-US" dirty="0"/>
          </a:p>
        </p:txBody>
      </p:sp>
      <p:sp>
        <p:nvSpPr>
          <p:cNvPr id="9" name="Text 7"/>
          <p:cNvSpPr/>
          <p:nvPr/>
        </p:nvSpPr>
        <p:spPr>
          <a:xfrm>
            <a:off x="658368" y="1755648"/>
            <a:ext cx="5623560" cy="603504"/>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Exporting solution design from a low-code configuration server and reconciling discrepancies</a:t>
            </a:r>
            <a:endParaRPr lang="en-US" sz="1350" dirty="0"/>
          </a:p>
        </p:txBody>
      </p:sp>
      <p:sp>
        <p:nvSpPr>
          <p:cNvPr id="10" name="Text 8"/>
          <p:cNvSpPr/>
          <p:nvPr/>
        </p:nvSpPr>
        <p:spPr>
          <a:xfrm>
            <a:off x="6446520" y="1755648"/>
            <a:ext cx="2423160" cy="603504"/>
          </a:xfrm>
          <a:prstGeom prst="rect">
            <a:avLst/>
          </a:prstGeom>
          <a:noFill/>
          <a:ln/>
        </p:spPr>
        <p:txBody>
          <a:bodyPr wrap="square" lIns="0" tIns="0" rIns="0" bIns="0" rtlCol="0" anchor="ctr"/>
          <a:lstStyle/>
          <a:p>
            <a:pPr indent="0" marL="0">
              <a:lnSpc>
                <a:spcPct val="105000"/>
              </a:lnSpc>
              <a:buNone/>
            </a:pPr>
            <a:r>
              <a:rPr lang="en-US" sz="1350" b="1" dirty="0">
                <a:solidFill>
                  <a:srgbClr val="16355F"/>
                </a:solidFill>
                <a:latin typeface="Arial" pitchFamily="34" charset="0"/>
                <a:ea typeface="Arial" pitchFamily="34" charset="-122"/>
                <a:cs typeface="Arial" pitchFamily="34" charset="-120"/>
              </a:rPr>
              <a:t>80-120 hrs per release</a:t>
            </a:r>
            <a:endParaRPr lang="en-US" sz="1350" dirty="0"/>
          </a:p>
          <a:p>
            <a:pPr indent="0" marL="0">
              <a:lnSpc>
                <a:spcPct val="105000"/>
              </a:lnSpc>
              <a:buNone/>
            </a:pPr>
            <a:r>
              <a:rPr lang="en-US" sz="950" dirty="0">
                <a:solidFill>
                  <a:srgbClr val="6B7280"/>
                </a:solidFill>
                <a:latin typeface="Arial" pitchFamily="34" charset="0"/>
                <a:ea typeface="Arial" pitchFamily="34" charset="-122"/>
                <a:cs typeface="Arial" pitchFamily="34" charset="-120"/>
              </a:rPr>
              <a:t>Estimated</a:t>
            </a:r>
            <a:endParaRPr lang="en-US" sz="1350" dirty="0"/>
          </a:p>
        </p:txBody>
      </p:sp>
      <p:sp>
        <p:nvSpPr>
          <p:cNvPr id="11" name="Text 9"/>
          <p:cNvSpPr/>
          <p:nvPr/>
        </p:nvSpPr>
        <p:spPr>
          <a:xfrm>
            <a:off x="8961120" y="1892808"/>
            <a:ext cx="256032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CHROME EXTENSION</a:t>
            </a:r>
            <a:endParaRPr lang="en-US" sz="850" dirty="0"/>
          </a:p>
        </p:txBody>
      </p:sp>
      <p:sp>
        <p:nvSpPr>
          <p:cNvPr id="12" name="Text 10"/>
          <p:cNvSpPr/>
          <p:nvPr/>
        </p:nvSpPr>
        <p:spPr>
          <a:xfrm>
            <a:off x="658368" y="2395728"/>
            <a:ext cx="10872216" cy="0"/>
          </a:xfrm>
          <a:prstGeom prst="line">
            <a:avLst/>
          </a:prstGeom>
          <a:noFill/>
          <a:ln w="9525">
            <a:solidFill>
              <a:srgbClr val="DDE2E9"/>
            </a:solidFill>
            <a:prstDash val="solid"/>
          </a:ln>
        </p:spPr>
        <p:txBody>
          <a:bodyPr wrap="square" rtlCol="0" anchor="ctr"/>
          <a:lstStyle/>
          <a:p>
            <a:pPr indent="0" marL="0">
              <a:buNone/>
            </a:pPr>
            <a:endParaRPr lang="en-US" dirty="0"/>
          </a:p>
        </p:txBody>
      </p:sp>
      <p:sp>
        <p:nvSpPr>
          <p:cNvPr id="13" name="Text 11"/>
          <p:cNvSpPr/>
          <p:nvPr/>
        </p:nvSpPr>
        <p:spPr>
          <a:xfrm>
            <a:off x="658368" y="2414016"/>
            <a:ext cx="5623560" cy="603504"/>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Migrating solution design from Sparx Enterprise Architect to Confluence, including redrawing diagrams in draw.io</a:t>
            </a:r>
            <a:endParaRPr lang="en-US" sz="1350" dirty="0"/>
          </a:p>
        </p:txBody>
      </p:sp>
      <p:sp>
        <p:nvSpPr>
          <p:cNvPr id="14" name="Text 12"/>
          <p:cNvSpPr/>
          <p:nvPr/>
        </p:nvSpPr>
        <p:spPr>
          <a:xfrm>
            <a:off x="6446520" y="2414016"/>
            <a:ext cx="2423160" cy="603504"/>
          </a:xfrm>
          <a:prstGeom prst="rect">
            <a:avLst/>
          </a:prstGeom>
          <a:noFill/>
          <a:ln/>
        </p:spPr>
        <p:txBody>
          <a:bodyPr wrap="square" lIns="0" tIns="0" rIns="0" bIns="0" rtlCol="0" anchor="ctr"/>
          <a:lstStyle/>
          <a:p>
            <a:pPr indent="0" marL="0">
              <a:lnSpc>
                <a:spcPct val="105000"/>
              </a:lnSpc>
              <a:buNone/>
            </a:pPr>
            <a:r>
              <a:rPr lang="en-US" sz="1350" b="1" dirty="0">
                <a:solidFill>
                  <a:srgbClr val="16355F"/>
                </a:solidFill>
                <a:latin typeface="Arial" pitchFamily="34" charset="0"/>
                <a:ea typeface="Arial" pitchFamily="34" charset="-122"/>
                <a:cs typeface="Arial" pitchFamily="34" charset="-120"/>
              </a:rPr>
              <a:t>150+ hrs</a:t>
            </a:r>
            <a:endParaRPr lang="en-US" sz="1350" dirty="0"/>
          </a:p>
          <a:p>
            <a:pPr indent="0" marL="0">
              <a:lnSpc>
                <a:spcPct val="105000"/>
              </a:lnSpc>
              <a:buNone/>
            </a:pPr>
            <a:r>
              <a:rPr lang="en-US" sz="950" dirty="0">
                <a:solidFill>
                  <a:srgbClr val="6B7280"/>
                </a:solidFill>
                <a:latin typeface="Arial" pitchFamily="34" charset="0"/>
                <a:ea typeface="Arial" pitchFamily="34" charset="-122"/>
                <a:cs typeface="Arial" pitchFamily="34" charset="-120"/>
              </a:rPr>
              <a:t>Estimated</a:t>
            </a:r>
            <a:endParaRPr lang="en-US" sz="1350" dirty="0"/>
          </a:p>
        </p:txBody>
      </p:sp>
      <p:sp>
        <p:nvSpPr>
          <p:cNvPr id="15" name="Text 13"/>
          <p:cNvSpPr/>
          <p:nvPr/>
        </p:nvSpPr>
        <p:spPr>
          <a:xfrm>
            <a:off x="8961120" y="2551176"/>
            <a:ext cx="256032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CHROME EXTENSION</a:t>
            </a:r>
            <a:endParaRPr lang="en-US" sz="850" dirty="0"/>
          </a:p>
        </p:txBody>
      </p:sp>
      <p:sp>
        <p:nvSpPr>
          <p:cNvPr id="16" name="Text 14"/>
          <p:cNvSpPr/>
          <p:nvPr/>
        </p:nvSpPr>
        <p:spPr>
          <a:xfrm>
            <a:off x="658368" y="3054096"/>
            <a:ext cx="10872216" cy="0"/>
          </a:xfrm>
          <a:prstGeom prst="line">
            <a:avLst/>
          </a:prstGeom>
          <a:noFill/>
          <a:ln w="9525">
            <a:solidFill>
              <a:srgbClr val="DDE2E9"/>
            </a:solidFill>
            <a:prstDash val="solid"/>
          </a:ln>
        </p:spPr>
        <p:txBody>
          <a:bodyPr wrap="square" rtlCol="0" anchor="ctr"/>
          <a:lstStyle/>
          <a:p>
            <a:pPr indent="0" marL="0">
              <a:buNone/>
            </a:pPr>
            <a:endParaRPr lang="en-US" dirty="0"/>
          </a:p>
        </p:txBody>
      </p:sp>
      <p:sp>
        <p:nvSpPr>
          <p:cNvPr id="17" name="Text 15"/>
          <p:cNvSpPr/>
          <p:nvPr/>
        </p:nvSpPr>
        <p:spPr>
          <a:xfrm>
            <a:off x="658368" y="3072384"/>
            <a:ext cx="5623560" cy="603504"/>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Tracking approximately 200 customer comments on solution design</a:t>
            </a:r>
            <a:endParaRPr lang="en-US" sz="1350" dirty="0"/>
          </a:p>
        </p:txBody>
      </p:sp>
      <p:sp>
        <p:nvSpPr>
          <p:cNvPr id="18" name="Text 16"/>
          <p:cNvSpPr/>
          <p:nvPr/>
        </p:nvSpPr>
        <p:spPr>
          <a:xfrm>
            <a:off x="6446520" y="3072384"/>
            <a:ext cx="2423160" cy="603504"/>
          </a:xfrm>
          <a:prstGeom prst="rect">
            <a:avLst/>
          </a:prstGeom>
          <a:noFill/>
          <a:ln/>
        </p:spPr>
        <p:txBody>
          <a:bodyPr wrap="square" lIns="0" tIns="0" rIns="0" bIns="0" rtlCol="0" anchor="ctr"/>
          <a:lstStyle/>
          <a:p>
            <a:pPr indent="0" marL="0">
              <a:lnSpc>
                <a:spcPct val="105000"/>
              </a:lnSpc>
              <a:buNone/>
            </a:pPr>
            <a:r>
              <a:rPr lang="en-US" sz="1350" b="1" dirty="0">
                <a:solidFill>
                  <a:srgbClr val="16355F"/>
                </a:solidFill>
                <a:latin typeface="Arial" pitchFamily="34" charset="0"/>
                <a:ea typeface="Arial" pitchFamily="34" charset="-122"/>
                <a:cs typeface="Arial" pitchFamily="34" charset="-120"/>
              </a:rPr>
              <a:t>25-30 hrs</a:t>
            </a:r>
            <a:endParaRPr lang="en-US" sz="1350" dirty="0"/>
          </a:p>
        </p:txBody>
      </p:sp>
      <p:sp>
        <p:nvSpPr>
          <p:cNvPr id="19" name="Text 17"/>
          <p:cNvSpPr/>
          <p:nvPr/>
        </p:nvSpPr>
        <p:spPr>
          <a:xfrm>
            <a:off x="8961120" y="3209544"/>
            <a:ext cx="256032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DASHBOARD</a:t>
            </a:r>
            <a:endParaRPr lang="en-US" sz="850" dirty="0"/>
          </a:p>
        </p:txBody>
      </p:sp>
      <p:sp>
        <p:nvSpPr>
          <p:cNvPr id="20" name="Text 18"/>
          <p:cNvSpPr/>
          <p:nvPr/>
        </p:nvSpPr>
        <p:spPr>
          <a:xfrm>
            <a:off x="658368" y="3712464"/>
            <a:ext cx="10872216" cy="0"/>
          </a:xfrm>
          <a:prstGeom prst="line">
            <a:avLst/>
          </a:prstGeom>
          <a:noFill/>
          <a:ln w="9525">
            <a:solidFill>
              <a:srgbClr val="DDE2E9"/>
            </a:solidFill>
            <a:prstDash val="solid"/>
          </a:ln>
        </p:spPr>
        <p:txBody>
          <a:bodyPr wrap="square" rtlCol="0" anchor="ctr"/>
          <a:lstStyle/>
          <a:p>
            <a:pPr indent="0" marL="0">
              <a:buNone/>
            </a:pPr>
            <a:endParaRPr lang="en-US" dirty="0"/>
          </a:p>
        </p:txBody>
      </p:sp>
      <p:sp>
        <p:nvSpPr>
          <p:cNvPr id="21" name="Text 19"/>
          <p:cNvSpPr/>
          <p:nvPr/>
        </p:nvSpPr>
        <p:spPr>
          <a:xfrm>
            <a:off x="658368" y="3730752"/>
            <a:ext cx="5623560" cy="603504"/>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Tracking the analysis of approximately 150 change requests in Jira</a:t>
            </a:r>
            <a:endParaRPr lang="en-US" sz="1350" dirty="0"/>
          </a:p>
        </p:txBody>
      </p:sp>
      <p:sp>
        <p:nvSpPr>
          <p:cNvPr id="22" name="Text 20"/>
          <p:cNvSpPr/>
          <p:nvPr/>
        </p:nvSpPr>
        <p:spPr>
          <a:xfrm>
            <a:off x="6446520" y="3730752"/>
            <a:ext cx="2423160" cy="603504"/>
          </a:xfrm>
          <a:prstGeom prst="rect">
            <a:avLst/>
          </a:prstGeom>
          <a:noFill/>
          <a:ln/>
        </p:spPr>
        <p:txBody>
          <a:bodyPr wrap="square" lIns="0" tIns="0" rIns="0" bIns="0" rtlCol="0" anchor="ctr"/>
          <a:lstStyle/>
          <a:p>
            <a:pPr indent="0" marL="0">
              <a:lnSpc>
                <a:spcPct val="105000"/>
              </a:lnSpc>
              <a:buNone/>
            </a:pPr>
            <a:r>
              <a:rPr lang="en-US" sz="1350" b="1" dirty="0">
                <a:solidFill>
                  <a:srgbClr val="16355F"/>
                </a:solidFill>
                <a:latin typeface="Arial" pitchFamily="34" charset="0"/>
                <a:ea typeface="Arial" pitchFamily="34" charset="-122"/>
                <a:cs typeface="Arial" pitchFamily="34" charset="-120"/>
              </a:rPr>
              <a:t>~20 hrs</a:t>
            </a:r>
            <a:endParaRPr lang="en-US" sz="1350" dirty="0"/>
          </a:p>
        </p:txBody>
      </p:sp>
      <p:sp>
        <p:nvSpPr>
          <p:cNvPr id="23" name="Text 21"/>
          <p:cNvSpPr/>
          <p:nvPr/>
        </p:nvSpPr>
        <p:spPr>
          <a:xfrm>
            <a:off x="8961120" y="3867912"/>
            <a:ext cx="256032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DASHBOARD</a:t>
            </a:r>
            <a:endParaRPr lang="en-US" sz="850" dirty="0"/>
          </a:p>
        </p:txBody>
      </p:sp>
      <p:sp>
        <p:nvSpPr>
          <p:cNvPr id="24" name="Text 22"/>
          <p:cNvSpPr/>
          <p:nvPr/>
        </p:nvSpPr>
        <p:spPr>
          <a:xfrm>
            <a:off x="658368" y="4370832"/>
            <a:ext cx="10872216" cy="0"/>
          </a:xfrm>
          <a:prstGeom prst="line">
            <a:avLst/>
          </a:prstGeom>
          <a:noFill/>
          <a:ln w="9525">
            <a:solidFill>
              <a:srgbClr val="DDE2E9"/>
            </a:solidFill>
            <a:prstDash val="solid"/>
          </a:ln>
        </p:spPr>
        <p:txBody>
          <a:bodyPr wrap="square" rtlCol="0" anchor="ctr"/>
          <a:lstStyle/>
          <a:p>
            <a:pPr indent="0" marL="0">
              <a:buNone/>
            </a:pPr>
            <a:endParaRPr lang="en-US" dirty="0"/>
          </a:p>
        </p:txBody>
      </p:sp>
      <p:sp>
        <p:nvSpPr>
          <p:cNvPr id="25" name="Text 23"/>
          <p:cNvSpPr/>
          <p:nvPr/>
        </p:nvSpPr>
        <p:spPr>
          <a:xfrm>
            <a:off x="658368" y="4389120"/>
            <a:ext cx="5623560" cy="603504"/>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Delivery reporting beyond standard Jira views</a:t>
            </a:r>
            <a:endParaRPr lang="en-US" sz="1350" dirty="0"/>
          </a:p>
        </p:txBody>
      </p:sp>
      <p:sp>
        <p:nvSpPr>
          <p:cNvPr id="26" name="Text 24"/>
          <p:cNvSpPr/>
          <p:nvPr/>
        </p:nvSpPr>
        <p:spPr>
          <a:xfrm>
            <a:off x="6446520" y="4389120"/>
            <a:ext cx="2423160" cy="603504"/>
          </a:xfrm>
          <a:prstGeom prst="rect">
            <a:avLst/>
          </a:prstGeom>
          <a:noFill/>
          <a:ln/>
        </p:spPr>
        <p:txBody>
          <a:bodyPr wrap="square" lIns="0" tIns="0" rIns="0" bIns="0" rtlCol="0" anchor="ctr"/>
          <a:lstStyle/>
          <a:p>
            <a:pPr indent="0" marL="0">
              <a:lnSpc>
                <a:spcPct val="105000"/>
              </a:lnSpc>
              <a:buNone/>
            </a:pPr>
            <a:r>
              <a:rPr lang="en-US" sz="1350" b="1" dirty="0">
                <a:solidFill>
                  <a:srgbClr val="16355F"/>
                </a:solidFill>
                <a:latin typeface="Arial" pitchFamily="34" charset="0"/>
                <a:ea typeface="Arial" pitchFamily="34" charset="-122"/>
                <a:cs typeface="Arial" pitchFamily="34" charset="-120"/>
              </a:rPr>
              <a:t>Reduced from 3 days to 4 hrs</a:t>
            </a:r>
            <a:endParaRPr lang="en-US" sz="1350" dirty="0"/>
          </a:p>
        </p:txBody>
      </p:sp>
      <p:sp>
        <p:nvSpPr>
          <p:cNvPr id="27" name="Text 25"/>
          <p:cNvSpPr/>
          <p:nvPr/>
        </p:nvSpPr>
        <p:spPr>
          <a:xfrm>
            <a:off x="8961120" y="4526280"/>
            <a:ext cx="256032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EXCEL REPORTS</a:t>
            </a:r>
            <a:endParaRPr lang="en-US" sz="850" dirty="0"/>
          </a:p>
        </p:txBody>
      </p:sp>
      <p:sp>
        <p:nvSpPr>
          <p:cNvPr id="28" name="Text 26"/>
          <p:cNvSpPr/>
          <p:nvPr/>
        </p:nvSpPr>
        <p:spPr>
          <a:xfrm>
            <a:off x="658368" y="5029200"/>
            <a:ext cx="10872216" cy="0"/>
          </a:xfrm>
          <a:prstGeom prst="line">
            <a:avLst/>
          </a:prstGeom>
          <a:noFill/>
          <a:ln w="9525">
            <a:solidFill>
              <a:srgbClr val="DDE2E9"/>
            </a:solidFill>
            <a:prstDash val="solid"/>
          </a:ln>
        </p:spPr>
        <p:txBody>
          <a:bodyPr wrap="square" rtlCol="0" anchor="ctr"/>
          <a:lstStyle/>
          <a:p>
            <a:pPr indent="0" marL="0">
              <a:buNone/>
            </a:pPr>
            <a:endParaRPr lang="en-US" dirty="0"/>
          </a:p>
        </p:txBody>
      </p:sp>
      <p:sp>
        <p:nvSpPr>
          <p:cNvPr id="29" name="Text 27"/>
          <p:cNvSpPr/>
          <p:nvPr/>
        </p:nvSpPr>
        <p:spPr>
          <a:xfrm>
            <a:off x="658368" y="5047488"/>
            <a:ext cx="5623560" cy="603504"/>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Translating configuration language expressions into plain language</a:t>
            </a:r>
            <a:endParaRPr lang="en-US" sz="1350" dirty="0"/>
          </a:p>
        </p:txBody>
      </p:sp>
      <p:sp>
        <p:nvSpPr>
          <p:cNvPr id="30" name="Text 28"/>
          <p:cNvSpPr/>
          <p:nvPr/>
        </p:nvSpPr>
        <p:spPr>
          <a:xfrm>
            <a:off x="6446520" y="5047488"/>
            <a:ext cx="2423160" cy="603504"/>
          </a:xfrm>
          <a:prstGeom prst="rect">
            <a:avLst/>
          </a:prstGeom>
          <a:noFill/>
          <a:ln/>
        </p:spPr>
        <p:txBody>
          <a:bodyPr wrap="square" lIns="0" tIns="0" rIns="0" bIns="0" rtlCol="0" anchor="ctr"/>
          <a:lstStyle/>
          <a:p>
            <a:pPr indent="0" marL="0">
              <a:lnSpc>
                <a:spcPct val="105000"/>
              </a:lnSpc>
              <a:buNone/>
            </a:pPr>
            <a:r>
              <a:rPr lang="en-US" sz="1350" b="1" dirty="0">
                <a:solidFill>
                  <a:srgbClr val="16355F"/>
                </a:solidFill>
                <a:latin typeface="Arial" pitchFamily="34" charset="0"/>
                <a:ea typeface="Arial" pitchFamily="34" charset="-122"/>
                <a:cs typeface="Arial" pitchFamily="34" charset="-120"/>
              </a:rPr>
              <a:t>Not quantified</a:t>
            </a:r>
            <a:endParaRPr lang="en-US" sz="1350" dirty="0"/>
          </a:p>
        </p:txBody>
      </p:sp>
      <p:sp>
        <p:nvSpPr>
          <p:cNvPr id="31" name="Text 29"/>
          <p:cNvSpPr/>
          <p:nvPr/>
        </p:nvSpPr>
        <p:spPr>
          <a:xfrm>
            <a:off x="8961120" y="5184648"/>
            <a:ext cx="256032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AGENTIC WORKFLOW MVP</a:t>
            </a:r>
            <a:endParaRPr lang="en-US" sz="850" dirty="0"/>
          </a:p>
        </p:txBody>
      </p:sp>
      <p:sp>
        <p:nvSpPr>
          <p:cNvPr id="32" name="Text 30"/>
          <p:cNvSpPr/>
          <p:nvPr/>
        </p:nvSpPr>
        <p:spPr>
          <a:xfrm>
            <a:off x="658368" y="5687568"/>
            <a:ext cx="10872216" cy="0"/>
          </a:xfrm>
          <a:prstGeom prst="line">
            <a:avLst/>
          </a:prstGeom>
          <a:noFill/>
          <a:ln w="9525">
            <a:solidFill>
              <a:srgbClr val="DDE2E9"/>
            </a:solidFill>
            <a:prstDash val="solid"/>
          </a:ln>
        </p:spPr>
        <p:txBody>
          <a:bodyPr wrap="square" rtlCol="0" anchor="ctr"/>
          <a:lstStyle/>
          <a:p>
            <a:pPr indent="0" marL="0">
              <a:buNone/>
            </a:pPr>
            <a:endParaRPr lang="en-US" dirty="0"/>
          </a:p>
        </p:txBody>
      </p:sp>
      <p:sp>
        <p:nvSpPr>
          <p:cNvPr id="33" name="Text 31"/>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4</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15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6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par>
                    <p:cTn id="63" fill="hold">
                      <p:stCondLst>
                        <p:cond delay="18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par>
                    <p:cTn id="67" fill="hold">
                      <p:stCondLst>
                        <p:cond delay="19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childTnLst>
                    </p:cTn>
                  </p:par>
                  <p:par>
                    <p:cTn id="71" fill="hold">
                      <p:stCondLst>
                        <p:cond delay="204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childTnLst>
                    </p:cTn>
                  </p:par>
                  <p:par>
                    <p:cTn id="75" fill="hold">
                      <p:stCondLst>
                        <p:cond delay="216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par>
                    <p:cTn id="79" fill="hold">
                      <p:stCondLst>
                        <p:cond delay="228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par>
                    <p:cTn id="83" fill="hold">
                      <p:stCondLst>
                        <p:cond delay="240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par>
                    <p:cTn id="87" fill="hold">
                      <p:stCondLst>
                        <p:cond delay="252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childTnLst>
                          </p:cTn>
                        </p:par>
                      </p:childTnLst>
                    </p:cTn>
                  </p:par>
                  <p:par>
                    <p:cTn id="91" fill="hold">
                      <p:stCondLst>
                        <p:cond delay="264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childTnLst>
                    </p:cTn>
                  </p:par>
                  <p:par>
                    <p:cTn id="95" fill="hold">
                      <p:stCondLst>
                        <p:cond delay="276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childTnLst>
                          </p:cTn>
                        </p:par>
                      </p:childTnLst>
                    </p:cTn>
                  </p:par>
                  <p:par>
                    <p:cTn id="99" fill="hold">
                      <p:stCondLst>
                        <p:cond delay="2880"/>
                      </p:stCondLst>
                      <p:childTnLst>
                        <p:par>
                          <p:cTn id="100" presetID="10" presetClass="entr" presetSubtype="0"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childTnLst>
                          </p:cTn>
                        </p:par>
                      </p:childTnLst>
                    </p:cTn>
                  </p:par>
                  <p:par>
                    <p:cTn id="103" fill="hold">
                      <p:stCondLst>
                        <p:cond delay="3000"/>
                      </p:stCondLst>
                      <p:childTnLst>
                        <p:par>
                          <p:cTn id="104" presetID="10" presetClass="entr" presetSubtype="0"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500"/>
                                  <p:tgtEl>
                                    <p:spTgt spid="27"/>
                                  </p:tgtEl>
                                </p:cBhvr>
                              </p:animEffect>
                            </p:childTnLst>
                          </p:cTn>
                        </p:par>
                      </p:childTnLst>
                    </p:cTn>
                  </p:par>
                  <p:par>
                    <p:cTn id="107" fill="hold">
                      <p:stCondLst>
                        <p:cond delay="312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500"/>
                                  <p:tgtEl>
                                    <p:spTgt spid="28"/>
                                  </p:tgtEl>
                                </p:cBhvr>
                              </p:animEffect>
                            </p:childTnLst>
                          </p:cTn>
                        </p:par>
                      </p:childTnLst>
                    </p:cTn>
                  </p:par>
                  <p:par>
                    <p:cTn id="111" fill="hold">
                      <p:stCondLst>
                        <p:cond delay="3240"/>
                      </p:stCondLst>
                      <p:childTnLst>
                        <p:par>
                          <p:cTn id="112" presetID="10" presetClass="entr" presetSubtype="0" fill="hold" nodeType="after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childTnLst>
                          </p:cTn>
                        </p:par>
                      </p:childTnLst>
                    </p:cTn>
                  </p:par>
                  <p:par>
                    <p:cTn id="115" fill="hold">
                      <p:stCondLst>
                        <p:cond delay="3360"/>
                      </p:stCondLst>
                      <p:childTnLst>
                        <p:par>
                          <p:cTn id="116" presetID="10" presetClass="entr" presetSubtype="0" fill="hold" nodeType="after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500"/>
                                  <p:tgtEl>
                                    <p:spTgt spid="30"/>
                                  </p:tgtEl>
                                </p:cBhvr>
                              </p:animEffect>
                            </p:childTnLst>
                          </p:cTn>
                        </p:par>
                      </p:childTnLst>
                    </p:cTn>
                  </p:par>
                  <p:par>
                    <p:cTn id="119" fill="hold">
                      <p:stCondLst>
                        <p:cond delay="3480"/>
                      </p:stCondLst>
                      <p:childTnLst>
                        <p:par>
                          <p:cTn id="120" presetID="10" presetClass="entr" presetSubtype="0" fill="hold" nodeType="after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500"/>
                                  <p:tgtEl>
                                    <p:spTgt spid="31"/>
                                  </p:tgtEl>
                                </p:cBhvr>
                              </p:animEffect>
                            </p:childTnLst>
                          </p:cTn>
                        </p:par>
                      </p:childTnLst>
                    </p:cTn>
                  </p:par>
                  <p:par>
                    <p:cTn id="123" fill="hold">
                      <p:stCondLst>
                        <p:cond delay="3600"/>
                      </p:stCondLst>
                      <p:childTnLst>
                        <p:par>
                          <p:cTn id="124" presetID="10" presetClass="entr" presetSubtype="0" fill="hold" nodeType="afterEffect">
                            <p:stCondLst>
                              <p:cond delay="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6" dur="500"/>
                                  <p:tgtEl>
                                    <p:spTgt spid="32"/>
                                  </p:tgtEl>
                                </p:cBhvr>
                              </p:animEffect>
                            </p:childTnLst>
                          </p:cTn>
                        </p:par>
                      </p:childTnLst>
                    </p:cTn>
                  </p:par>
                  <p:par>
                    <p:cTn id="127" fill="hold">
                      <p:stCondLst>
                        <p:cond delay="3720"/>
                      </p:stCondLst>
                      <p:childTnLst>
                        <p:par>
                          <p:cTn id="128" presetID="10" presetClass="entr" presetSubtype="0" fill="hold" nodeType="afterEffect">
                            <p:stCondLst>
                              <p:cond delay="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0" dur="50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6B7280"/>
                </a:solidFill>
                <a:latin typeface="Arial" pitchFamily="34" charset="0"/>
                <a:ea typeface="Arial" pitchFamily="34" charset="-122"/>
                <a:cs typeface="Arial" pitchFamily="34" charset="-120"/>
              </a:rPr>
              <a:t>Example 1 · Design Export</a:t>
            </a:r>
            <a:endParaRPr lang="en-US" sz="1300" dirty="0"/>
          </a:p>
        </p:txBody>
      </p:sp>
      <p:sp>
        <p:nvSpPr>
          <p:cNvPr id="4" name="Text 2"/>
          <p:cNvSpPr/>
          <p:nvPr/>
        </p:nvSpPr>
        <p:spPr>
          <a:xfrm>
            <a:off x="658368" y="868680"/>
            <a:ext cx="10872216" cy="91440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Updating Solution Design on the Low-Code Platform and Exporting It to Confluence</a:t>
            </a:r>
            <a:endParaRPr lang="en-US" sz="2900" dirty="0"/>
          </a:p>
        </p:txBody>
      </p:sp>
      <p:sp>
        <p:nvSpPr>
          <p:cNvPr id="5" name="Text 3"/>
          <p:cNvSpPr/>
          <p:nvPr/>
        </p:nvSpPr>
        <p:spPr>
          <a:xfrm>
            <a:off x="658368" y="1965960"/>
            <a:ext cx="6492240" cy="1143000"/>
          </a:xfrm>
          <a:prstGeom prst="roundRect">
            <a:avLst>
              <a:gd name="adj" fmla="val 6640"/>
            </a:avLst>
          </a:prstGeom>
          <a:solidFill>
            <a:srgbClr val="F2F6FC"/>
          </a:solidFill>
          <a:ln w="12700">
            <a:solidFill>
              <a:srgbClr val="DDE2E9"/>
            </a:solidFill>
          </a:ln>
        </p:spPr>
        <p:txBody>
          <a:bodyPr wrap="square" rtlCol="0" anchor="ctr"/>
          <a:lstStyle/>
          <a:p>
            <a:pPr indent="0" marL="0">
              <a:buNone/>
            </a:pPr>
            <a:endParaRPr lang="en-US" dirty="0"/>
          </a:p>
        </p:txBody>
      </p:sp>
      <p:sp>
        <p:nvSpPr>
          <p:cNvPr id="6" name="Text 4"/>
          <p:cNvSpPr/>
          <p:nvPr/>
        </p:nvSpPr>
        <p:spPr>
          <a:xfrm>
            <a:off x="877824" y="2093976"/>
            <a:ext cx="608076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Challenge</a:t>
            </a:r>
            <a:endParaRPr lang="en-US" sz="1400" dirty="0"/>
          </a:p>
        </p:txBody>
      </p:sp>
      <p:sp>
        <p:nvSpPr>
          <p:cNvPr id="7" name="Text 5"/>
          <p:cNvSpPr/>
          <p:nvPr/>
        </p:nvSpPr>
        <p:spPr>
          <a:xfrm>
            <a:off x="877824" y="2404872"/>
            <a:ext cx="6080760" cy="59436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Solution design was maintained on a low-code configuration server, but the built-in export did not work. For more than a year, documentation had been prepared manually and gradually drifted from the actual configuration.</a:t>
            </a:r>
            <a:endParaRPr lang="en-US" sz="1250" dirty="0"/>
          </a:p>
        </p:txBody>
      </p:sp>
      <p:sp>
        <p:nvSpPr>
          <p:cNvPr id="8" name="Text 6"/>
          <p:cNvSpPr/>
          <p:nvPr/>
        </p:nvSpPr>
        <p:spPr>
          <a:xfrm>
            <a:off x="658368" y="3236976"/>
            <a:ext cx="6492240" cy="1517904"/>
          </a:xfrm>
          <a:prstGeom prst="roundRect">
            <a:avLst>
              <a:gd name="adj" fmla="val 5000"/>
            </a:avLst>
          </a:prstGeom>
          <a:solidFill>
            <a:srgbClr val="F2F6FC"/>
          </a:solidFill>
          <a:ln w="12700">
            <a:solidFill>
              <a:srgbClr val="DDE2E9"/>
            </a:solidFill>
          </a:ln>
        </p:spPr>
        <p:txBody>
          <a:bodyPr wrap="square" rtlCol="0" anchor="ctr"/>
          <a:lstStyle/>
          <a:p>
            <a:pPr indent="0" marL="0">
              <a:buNone/>
            </a:pPr>
            <a:endParaRPr lang="en-US" dirty="0"/>
          </a:p>
        </p:txBody>
      </p:sp>
      <p:sp>
        <p:nvSpPr>
          <p:cNvPr id="9" name="Text 7"/>
          <p:cNvSpPr/>
          <p:nvPr/>
        </p:nvSpPr>
        <p:spPr>
          <a:xfrm>
            <a:off x="877824" y="3364992"/>
            <a:ext cx="608076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Solution</a:t>
            </a:r>
            <a:endParaRPr lang="en-US" sz="1400" dirty="0"/>
          </a:p>
        </p:txBody>
      </p:sp>
      <p:sp>
        <p:nvSpPr>
          <p:cNvPr id="10" name="Text 8"/>
          <p:cNvSpPr/>
          <p:nvPr/>
        </p:nvSpPr>
        <p:spPr>
          <a:xfrm>
            <a:off x="877824" y="3675888"/>
            <a:ext cx="6080760" cy="969264"/>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The first tool compared Confluence documentation with objects on the low-code platform and highlighted discrepancies. After an analyst approved the changes, the tool automatically updated the corresponding object descriptions. Once developers configured the export templates, a second tool transferred documentation from the internal Confluence instance to the external one.</a:t>
            </a:r>
            <a:endParaRPr lang="en-US" sz="1250" dirty="0"/>
          </a:p>
        </p:txBody>
      </p:sp>
      <p:sp>
        <p:nvSpPr>
          <p:cNvPr id="11" name="Text 9"/>
          <p:cNvSpPr/>
          <p:nvPr/>
        </p:nvSpPr>
        <p:spPr>
          <a:xfrm>
            <a:off x="658368" y="4882896"/>
            <a:ext cx="6492240" cy="960120"/>
          </a:xfrm>
          <a:prstGeom prst="roundRect">
            <a:avLst>
              <a:gd name="adj" fmla="val 7905"/>
            </a:avLst>
          </a:prstGeom>
          <a:solidFill>
            <a:srgbClr val="F2F6FC"/>
          </a:solidFill>
          <a:ln w="12700">
            <a:solidFill>
              <a:srgbClr val="DDE2E9"/>
            </a:solidFill>
          </a:ln>
        </p:spPr>
        <p:txBody>
          <a:bodyPr wrap="square" rtlCol="0" anchor="ctr"/>
          <a:lstStyle/>
          <a:p>
            <a:pPr indent="0" marL="0">
              <a:buNone/>
            </a:pPr>
            <a:endParaRPr lang="en-US" dirty="0"/>
          </a:p>
        </p:txBody>
      </p:sp>
      <p:sp>
        <p:nvSpPr>
          <p:cNvPr id="12" name="Text 10"/>
          <p:cNvSpPr/>
          <p:nvPr/>
        </p:nvSpPr>
        <p:spPr>
          <a:xfrm>
            <a:off x="877824" y="5010912"/>
            <a:ext cx="608076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Outcome</a:t>
            </a:r>
            <a:endParaRPr lang="en-US" sz="1400" dirty="0"/>
          </a:p>
        </p:txBody>
      </p:sp>
      <p:sp>
        <p:nvSpPr>
          <p:cNvPr id="13" name="Text 11"/>
          <p:cNvSpPr/>
          <p:nvPr/>
        </p:nvSpPr>
        <p:spPr>
          <a:xfrm>
            <a:off x="877824" y="5321808"/>
            <a:ext cx="6080760" cy="41148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Both workflows were implemented and tested: updating object descriptions on the low-code platform and transferring documentation to the external Confluence instance.</a:t>
            </a:r>
            <a:endParaRPr lang="en-US" sz="1250" dirty="0"/>
          </a:p>
        </p:txBody>
      </p:sp>
      <p:sp>
        <p:nvSpPr>
          <p:cNvPr id="14" name="Text 12"/>
          <p:cNvSpPr/>
          <p:nvPr/>
        </p:nvSpPr>
        <p:spPr>
          <a:xfrm>
            <a:off x="7772400" y="2103120"/>
            <a:ext cx="3749040" cy="1051560"/>
          </a:xfrm>
          <a:prstGeom prst="rect">
            <a:avLst/>
          </a:prstGeom>
          <a:noFill/>
          <a:ln/>
        </p:spPr>
        <p:txBody>
          <a:bodyPr wrap="square" lIns="0" tIns="0" rIns="0" bIns="0" rtlCol="0" anchor="ctr"/>
          <a:lstStyle/>
          <a:p>
            <a:pPr algn="r" indent="0" marL="0">
              <a:buNone/>
            </a:pPr>
            <a:r>
              <a:rPr lang="en-US" sz="6400" b="1" dirty="0">
                <a:solidFill>
                  <a:srgbClr val="16355F"/>
                </a:solidFill>
                <a:latin typeface="Arial" pitchFamily="34" charset="0"/>
                <a:ea typeface="Arial" pitchFamily="34" charset="-122"/>
                <a:cs typeface="Arial" pitchFamily="34" charset="-120"/>
              </a:rPr>
              <a:t>80-120</a:t>
            </a:r>
            <a:endParaRPr lang="en-US" sz="6400" dirty="0"/>
          </a:p>
        </p:txBody>
      </p:sp>
      <p:sp>
        <p:nvSpPr>
          <p:cNvPr id="15" name="Text 13"/>
          <p:cNvSpPr/>
          <p:nvPr/>
        </p:nvSpPr>
        <p:spPr>
          <a:xfrm>
            <a:off x="7772400" y="3200400"/>
            <a:ext cx="3749040" cy="365760"/>
          </a:xfrm>
          <a:prstGeom prst="rect">
            <a:avLst/>
          </a:prstGeom>
          <a:noFill/>
          <a:ln/>
        </p:spPr>
        <p:txBody>
          <a:bodyPr wrap="square" lIns="0" tIns="0" rIns="0" bIns="0" rtlCol="0" anchor="ctr"/>
          <a:lstStyle/>
          <a:p>
            <a:pPr algn="r" indent="0" marL="0">
              <a:buNone/>
            </a:pPr>
            <a:r>
              <a:rPr lang="en-US" sz="1400" dirty="0">
                <a:solidFill>
                  <a:srgbClr val="6B7280"/>
                </a:solidFill>
                <a:latin typeface="Arial" pitchFamily="34" charset="0"/>
                <a:ea typeface="Arial" pitchFamily="34" charset="-122"/>
                <a:cs typeface="Arial" pitchFamily="34" charset="-120"/>
              </a:rPr>
              <a:t>hours of manual work saved per release</a:t>
            </a:r>
            <a:endParaRPr lang="en-US" sz="1400" dirty="0"/>
          </a:p>
        </p:txBody>
      </p:sp>
      <p:sp>
        <p:nvSpPr>
          <p:cNvPr id="16" name="Text 14"/>
          <p:cNvSpPr/>
          <p:nvPr/>
        </p:nvSpPr>
        <p:spPr>
          <a:xfrm>
            <a:off x="7772400" y="3621024"/>
            <a:ext cx="3749040" cy="274320"/>
          </a:xfrm>
          <a:prstGeom prst="rect">
            <a:avLst/>
          </a:prstGeom>
          <a:noFill/>
          <a:ln/>
        </p:spPr>
        <p:txBody>
          <a:bodyPr wrap="square" lIns="0" tIns="0" rIns="0" bIns="0" rtlCol="0" anchor="ctr"/>
          <a:lstStyle/>
          <a:p>
            <a:pPr algn="r" indent="0" marL="0">
              <a:buNone/>
            </a:pPr>
            <a:r>
              <a:rPr lang="en-US" sz="1100" dirty="0">
                <a:solidFill>
                  <a:srgbClr val="6B7280"/>
                </a:solidFill>
                <a:latin typeface="Arial" pitchFamily="34" charset="0"/>
                <a:ea typeface="Arial" pitchFamily="34" charset="-122"/>
                <a:cs typeface="Arial" pitchFamily="34" charset="-120"/>
              </a:rPr>
              <a:t>Estimated</a:t>
            </a:r>
            <a:endParaRPr lang="en-US" sz="1100" dirty="0"/>
          </a:p>
        </p:txBody>
      </p:sp>
      <p:sp>
        <p:nvSpPr>
          <p:cNvPr id="17" name="Text 15"/>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5</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15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6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par>
                    <p:cTn id="63" fill="hold">
                      <p:stCondLst>
                        <p:cond delay="18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6B7280"/>
                </a:solidFill>
                <a:latin typeface="Arial" pitchFamily="34" charset="0"/>
                <a:ea typeface="Arial" pitchFamily="34" charset="-122"/>
                <a:cs typeface="Arial" pitchFamily="34" charset="-120"/>
              </a:rPr>
              <a:t>Example 2 · Design Migration</a:t>
            </a:r>
            <a:endParaRPr lang="en-US" sz="1300" dirty="0"/>
          </a:p>
        </p:txBody>
      </p:sp>
      <p:sp>
        <p:nvSpPr>
          <p:cNvPr id="4" name="Text 2"/>
          <p:cNvSpPr/>
          <p:nvPr/>
        </p:nvSpPr>
        <p:spPr>
          <a:xfrm>
            <a:off x="658368" y="868680"/>
            <a:ext cx="10872216" cy="91440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Migrating Solution Design from Sparx Enterprise Architect to Confluence</a:t>
            </a:r>
            <a:endParaRPr lang="en-US" sz="2900" dirty="0"/>
          </a:p>
        </p:txBody>
      </p:sp>
      <p:sp>
        <p:nvSpPr>
          <p:cNvPr id="5" name="Text 3"/>
          <p:cNvSpPr/>
          <p:nvPr/>
        </p:nvSpPr>
        <p:spPr>
          <a:xfrm>
            <a:off x="658368" y="1965960"/>
            <a:ext cx="6492240" cy="1335024"/>
          </a:xfrm>
          <a:prstGeom prst="roundRect">
            <a:avLst>
              <a:gd name="adj" fmla="val 5685"/>
            </a:avLst>
          </a:prstGeom>
          <a:solidFill>
            <a:srgbClr val="F2F6FC"/>
          </a:solidFill>
          <a:ln w="12700">
            <a:solidFill>
              <a:srgbClr val="DDE2E9"/>
            </a:solidFill>
          </a:ln>
        </p:spPr>
        <p:txBody>
          <a:bodyPr wrap="square" rtlCol="0" anchor="ctr"/>
          <a:lstStyle/>
          <a:p>
            <a:pPr indent="0" marL="0">
              <a:buNone/>
            </a:pPr>
            <a:endParaRPr lang="en-US" dirty="0"/>
          </a:p>
        </p:txBody>
      </p:sp>
      <p:sp>
        <p:nvSpPr>
          <p:cNvPr id="6" name="Text 4"/>
          <p:cNvSpPr/>
          <p:nvPr/>
        </p:nvSpPr>
        <p:spPr>
          <a:xfrm>
            <a:off x="877824" y="2093976"/>
            <a:ext cx="608076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Challenge</a:t>
            </a:r>
            <a:endParaRPr lang="en-US" sz="1400" dirty="0"/>
          </a:p>
        </p:txBody>
      </p:sp>
      <p:sp>
        <p:nvSpPr>
          <p:cNvPr id="7" name="Text 5"/>
          <p:cNvSpPr/>
          <p:nvPr/>
        </p:nvSpPr>
        <p:spPr>
          <a:xfrm>
            <a:off x="877824" y="2404872"/>
            <a:ext cx="6080760" cy="786384"/>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Solution design was stored in Sparx Enterprise Architect, which no longer met the needs of developers and testers. Migrating it to Confluence required diagrams to be redrawn manually and notes, linked documents, and complex tables with merged cells to be converted.</a:t>
            </a:r>
            <a:endParaRPr lang="en-US" sz="1250" dirty="0"/>
          </a:p>
        </p:txBody>
      </p:sp>
      <p:sp>
        <p:nvSpPr>
          <p:cNvPr id="8" name="Text 6"/>
          <p:cNvSpPr/>
          <p:nvPr/>
        </p:nvSpPr>
        <p:spPr>
          <a:xfrm>
            <a:off x="658368" y="3429000"/>
            <a:ext cx="6492240" cy="1143000"/>
          </a:xfrm>
          <a:prstGeom prst="roundRect">
            <a:avLst>
              <a:gd name="adj" fmla="val 6640"/>
            </a:avLst>
          </a:prstGeom>
          <a:solidFill>
            <a:srgbClr val="F2F6FC"/>
          </a:solidFill>
          <a:ln w="12700">
            <a:solidFill>
              <a:srgbClr val="DDE2E9"/>
            </a:solidFill>
          </a:ln>
        </p:spPr>
        <p:txBody>
          <a:bodyPr wrap="square" rtlCol="0" anchor="ctr"/>
          <a:lstStyle/>
          <a:p>
            <a:pPr indent="0" marL="0">
              <a:buNone/>
            </a:pPr>
            <a:endParaRPr lang="en-US" dirty="0"/>
          </a:p>
        </p:txBody>
      </p:sp>
      <p:sp>
        <p:nvSpPr>
          <p:cNvPr id="9" name="Text 7"/>
          <p:cNvSpPr/>
          <p:nvPr/>
        </p:nvSpPr>
        <p:spPr>
          <a:xfrm>
            <a:off x="877824" y="3557016"/>
            <a:ext cx="608076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Solution</a:t>
            </a:r>
            <a:endParaRPr lang="en-US" sz="1400" dirty="0"/>
          </a:p>
        </p:txBody>
      </p:sp>
      <p:sp>
        <p:nvSpPr>
          <p:cNvPr id="10" name="Text 8"/>
          <p:cNvSpPr/>
          <p:nvPr/>
        </p:nvSpPr>
        <p:spPr>
          <a:xfrm>
            <a:off x="877824" y="3867912"/>
            <a:ext cx="6080760" cy="59436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The tool converts diagrams into editable draw.io format, transfers notes, linked documents, and tables with merged cells, and generates ready-to-use Confluence pages.</a:t>
            </a:r>
            <a:endParaRPr lang="en-US" sz="1250" dirty="0"/>
          </a:p>
        </p:txBody>
      </p:sp>
      <p:sp>
        <p:nvSpPr>
          <p:cNvPr id="11" name="Text 9"/>
          <p:cNvSpPr/>
          <p:nvPr/>
        </p:nvSpPr>
        <p:spPr>
          <a:xfrm>
            <a:off x="658368" y="4700016"/>
            <a:ext cx="6492240" cy="960120"/>
          </a:xfrm>
          <a:prstGeom prst="roundRect">
            <a:avLst>
              <a:gd name="adj" fmla="val 7905"/>
            </a:avLst>
          </a:prstGeom>
          <a:solidFill>
            <a:srgbClr val="F2F6FC"/>
          </a:solidFill>
          <a:ln w="12700">
            <a:solidFill>
              <a:srgbClr val="DDE2E9"/>
            </a:solidFill>
          </a:ln>
        </p:spPr>
        <p:txBody>
          <a:bodyPr wrap="square" rtlCol="0" anchor="ctr"/>
          <a:lstStyle/>
          <a:p>
            <a:pPr indent="0" marL="0">
              <a:buNone/>
            </a:pPr>
            <a:endParaRPr lang="en-US" dirty="0"/>
          </a:p>
        </p:txBody>
      </p:sp>
      <p:sp>
        <p:nvSpPr>
          <p:cNvPr id="12" name="Text 10"/>
          <p:cNvSpPr/>
          <p:nvPr/>
        </p:nvSpPr>
        <p:spPr>
          <a:xfrm>
            <a:off x="877824" y="4828032"/>
            <a:ext cx="608076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Outcome</a:t>
            </a:r>
            <a:endParaRPr lang="en-US" sz="1400" dirty="0"/>
          </a:p>
        </p:txBody>
      </p:sp>
      <p:sp>
        <p:nvSpPr>
          <p:cNvPr id="13" name="Text 11"/>
          <p:cNvSpPr/>
          <p:nvPr/>
        </p:nvSpPr>
        <p:spPr>
          <a:xfrm>
            <a:off x="877824" y="5138928"/>
            <a:ext cx="6080760" cy="41148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The tool was handed over to analysts for day-to-day use and to engineers for support and further development.</a:t>
            </a:r>
            <a:endParaRPr lang="en-US" sz="1250" dirty="0"/>
          </a:p>
        </p:txBody>
      </p:sp>
      <p:sp>
        <p:nvSpPr>
          <p:cNvPr id="14" name="Text 12"/>
          <p:cNvSpPr/>
          <p:nvPr/>
        </p:nvSpPr>
        <p:spPr>
          <a:xfrm>
            <a:off x="7772400" y="2103120"/>
            <a:ext cx="3749040" cy="1051560"/>
          </a:xfrm>
          <a:prstGeom prst="rect">
            <a:avLst/>
          </a:prstGeom>
          <a:noFill/>
          <a:ln/>
        </p:spPr>
        <p:txBody>
          <a:bodyPr wrap="square" lIns="0" tIns="0" rIns="0" bIns="0" rtlCol="0" anchor="ctr"/>
          <a:lstStyle/>
          <a:p>
            <a:pPr algn="r" indent="0" marL="0">
              <a:buNone/>
            </a:pPr>
            <a:r>
              <a:rPr lang="en-US" sz="6400" b="1" dirty="0">
                <a:solidFill>
                  <a:srgbClr val="16355F"/>
                </a:solidFill>
                <a:latin typeface="Arial" pitchFamily="34" charset="0"/>
                <a:ea typeface="Arial" pitchFamily="34" charset="-122"/>
                <a:cs typeface="Arial" pitchFamily="34" charset="-120"/>
              </a:rPr>
              <a:t>150+</a:t>
            </a:r>
            <a:endParaRPr lang="en-US" sz="6400" dirty="0"/>
          </a:p>
        </p:txBody>
      </p:sp>
      <p:sp>
        <p:nvSpPr>
          <p:cNvPr id="15" name="Text 13"/>
          <p:cNvSpPr/>
          <p:nvPr/>
        </p:nvSpPr>
        <p:spPr>
          <a:xfrm>
            <a:off x="7772400" y="3200400"/>
            <a:ext cx="3749040" cy="365760"/>
          </a:xfrm>
          <a:prstGeom prst="rect">
            <a:avLst/>
          </a:prstGeom>
          <a:noFill/>
          <a:ln/>
        </p:spPr>
        <p:txBody>
          <a:bodyPr wrap="square" lIns="0" tIns="0" rIns="0" bIns="0" rtlCol="0" anchor="ctr"/>
          <a:lstStyle/>
          <a:p>
            <a:pPr algn="r" indent="0" marL="0">
              <a:buNone/>
            </a:pPr>
            <a:r>
              <a:rPr lang="en-US" sz="1400" dirty="0">
                <a:solidFill>
                  <a:srgbClr val="6B7280"/>
                </a:solidFill>
                <a:latin typeface="Arial" pitchFamily="34" charset="0"/>
                <a:ea typeface="Arial" pitchFamily="34" charset="-122"/>
                <a:cs typeface="Arial" pitchFamily="34" charset="-120"/>
              </a:rPr>
              <a:t>hours of manual migration and formatting</a:t>
            </a:r>
            <a:endParaRPr lang="en-US" sz="1400" dirty="0"/>
          </a:p>
        </p:txBody>
      </p:sp>
      <p:sp>
        <p:nvSpPr>
          <p:cNvPr id="16" name="Text 14"/>
          <p:cNvSpPr/>
          <p:nvPr/>
        </p:nvSpPr>
        <p:spPr>
          <a:xfrm>
            <a:off x="7772400" y="3621024"/>
            <a:ext cx="3749040" cy="274320"/>
          </a:xfrm>
          <a:prstGeom prst="rect">
            <a:avLst/>
          </a:prstGeom>
          <a:noFill/>
          <a:ln/>
        </p:spPr>
        <p:txBody>
          <a:bodyPr wrap="square" lIns="0" tIns="0" rIns="0" bIns="0" rtlCol="0" anchor="ctr"/>
          <a:lstStyle/>
          <a:p>
            <a:pPr algn="r" indent="0" marL="0">
              <a:buNone/>
            </a:pPr>
            <a:r>
              <a:rPr lang="en-US" sz="1100" dirty="0">
                <a:solidFill>
                  <a:srgbClr val="6B7280"/>
                </a:solidFill>
                <a:latin typeface="Arial" pitchFamily="34" charset="0"/>
                <a:ea typeface="Arial" pitchFamily="34" charset="-122"/>
                <a:cs typeface="Arial" pitchFamily="34" charset="-120"/>
              </a:rPr>
              <a:t>Estimated</a:t>
            </a:r>
            <a:endParaRPr lang="en-US" sz="1100" dirty="0"/>
          </a:p>
        </p:txBody>
      </p:sp>
      <p:sp>
        <p:nvSpPr>
          <p:cNvPr id="17" name="Text 15"/>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6</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15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6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par>
                    <p:cTn id="63" fill="hold">
                      <p:stCondLst>
                        <p:cond delay="18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6B7280"/>
                </a:solidFill>
                <a:latin typeface="Arial" pitchFamily="34" charset="0"/>
                <a:ea typeface="Arial" pitchFamily="34" charset="-122"/>
                <a:cs typeface="Arial" pitchFamily="34" charset="-120"/>
              </a:rPr>
              <a:t>Examples 3-6</a:t>
            </a:r>
            <a:endParaRPr lang="en-US" sz="1300" dirty="0"/>
          </a:p>
        </p:txBody>
      </p:sp>
      <p:sp>
        <p:nvSpPr>
          <p:cNvPr id="4" name="Text 2"/>
          <p:cNvSpPr/>
          <p:nvPr/>
        </p:nvSpPr>
        <p:spPr>
          <a:xfrm>
            <a:off x="658368" y="868680"/>
            <a:ext cx="10872216" cy="86868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Four More Tools for Managing Work and Automating Repetitive Tasks</a:t>
            </a:r>
            <a:endParaRPr lang="en-US" sz="2900" dirty="0"/>
          </a:p>
        </p:txBody>
      </p:sp>
      <p:sp>
        <p:nvSpPr>
          <p:cNvPr id="5" name="Text 3"/>
          <p:cNvSpPr/>
          <p:nvPr/>
        </p:nvSpPr>
        <p:spPr>
          <a:xfrm>
            <a:off x="658368" y="1783080"/>
            <a:ext cx="5303520" cy="2148840"/>
          </a:xfrm>
          <a:prstGeom prst="roundRect">
            <a:avLst>
              <a:gd name="adj" fmla="val 3532"/>
            </a:avLst>
          </a:prstGeom>
          <a:solidFill>
            <a:srgbClr val="F2F6FC"/>
          </a:solidFill>
          <a:ln w="12700">
            <a:solidFill>
              <a:srgbClr val="DDE2E9"/>
            </a:solidFill>
          </a:ln>
        </p:spPr>
        <p:txBody>
          <a:bodyPr wrap="square" rtlCol="0" anchor="ctr"/>
          <a:lstStyle/>
          <a:p>
            <a:pPr indent="0" marL="0">
              <a:buNone/>
            </a:pPr>
            <a:endParaRPr lang="en-US" dirty="0"/>
          </a:p>
        </p:txBody>
      </p:sp>
      <p:sp>
        <p:nvSpPr>
          <p:cNvPr id="6" name="Text 4"/>
          <p:cNvSpPr/>
          <p:nvPr/>
        </p:nvSpPr>
        <p:spPr>
          <a:xfrm>
            <a:off x="932688" y="1929384"/>
            <a:ext cx="4754880" cy="502920"/>
          </a:xfrm>
          <a:prstGeom prst="rect">
            <a:avLst/>
          </a:prstGeom>
          <a:noFill/>
          <a:ln/>
        </p:spPr>
        <p:txBody>
          <a:bodyPr wrap="square" lIns="0" tIns="0" rIns="0" bIns="0" rtlCol="0" anchor="ctr"/>
          <a:lstStyle/>
          <a:p>
            <a:pPr indent="0" marL="0">
              <a:buNone/>
            </a:pPr>
            <a:r>
              <a:rPr lang="en-US" sz="2700" b="1" dirty="0">
                <a:solidFill>
                  <a:srgbClr val="16355F"/>
                </a:solidFill>
                <a:latin typeface="Arial" pitchFamily="34" charset="0"/>
                <a:ea typeface="Arial" pitchFamily="34" charset="-122"/>
                <a:cs typeface="Arial" pitchFamily="34" charset="-120"/>
              </a:rPr>
              <a:t>25-30 hrs</a:t>
            </a:r>
            <a:endParaRPr lang="en-US" sz="2700" dirty="0"/>
          </a:p>
        </p:txBody>
      </p:sp>
      <p:sp>
        <p:nvSpPr>
          <p:cNvPr id="7" name="Text 5"/>
          <p:cNvSpPr/>
          <p:nvPr/>
        </p:nvSpPr>
        <p:spPr>
          <a:xfrm>
            <a:off x="932688" y="2441448"/>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Customer Comments</a:t>
            </a:r>
            <a:endParaRPr lang="en-US" sz="1450" dirty="0"/>
          </a:p>
        </p:txBody>
      </p:sp>
      <p:sp>
        <p:nvSpPr>
          <p:cNvPr id="8" name="Text 6"/>
          <p:cNvSpPr/>
          <p:nvPr/>
        </p:nvSpPr>
        <p:spPr>
          <a:xfrm>
            <a:off x="932688" y="2752344"/>
            <a:ext cx="4754880" cy="749808"/>
          </a:xfrm>
          <a:prstGeom prst="rect">
            <a:avLst/>
          </a:prstGeom>
          <a:noFill/>
          <a:ln/>
        </p:spPr>
        <p:txBody>
          <a:bodyPr wrap="square" lIns="0" tIns="0" rIns="0" bIns="0" rtlCol="0" anchor="t"/>
          <a:lstStyle/>
          <a:p>
            <a:pPr indent="0" marL="0">
              <a:lnSpc>
                <a:spcPct val="115000"/>
              </a:lnSpc>
              <a:buNone/>
            </a:pPr>
            <a:r>
              <a:rPr lang="en-US" sz="1150" dirty="0">
                <a:solidFill>
                  <a:srgbClr val="3A4354"/>
                </a:solidFill>
                <a:latin typeface="Arial" pitchFamily="34" charset="0"/>
                <a:ea typeface="Arial" pitchFamily="34" charset="-122"/>
                <a:cs typeface="Arial" pitchFamily="34" charset="-120"/>
              </a:rPr>
              <a:t>Around 200 comments across 40 pages over three weeks. The dashboard consolidated statuses, showed how comments were distributed across analysts, and supported planning of the remaining work.</a:t>
            </a:r>
            <a:endParaRPr lang="en-US" sz="1150" dirty="0"/>
          </a:p>
        </p:txBody>
      </p:sp>
      <p:sp>
        <p:nvSpPr>
          <p:cNvPr id="9" name="Text 7"/>
          <p:cNvSpPr/>
          <p:nvPr/>
        </p:nvSpPr>
        <p:spPr>
          <a:xfrm>
            <a:off x="932688" y="3520440"/>
            <a:ext cx="320040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DASHBOARD</a:t>
            </a:r>
            <a:endParaRPr lang="en-US" sz="850" dirty="0"/>
          </a:p>
        </p:txBody>
      </p:sp>
      <p:sp>
        <p:nvSpPr>
          <p:cNvPr id="10" name="Text 8"/>
          <p:cNvSpPr/>
          <p:nvPr/>
        </p:nvSpPr>
        <p:spPr>
          <a:xfrm>
            <a:off x="6236208" y="1783080"/>
            <a:ext cx="5303520" cy="2148840"/>
          </a:xfrm>
          <a:prstGeom prst="roundRect">
            <a:avLst>
              <a:gd name="adj" fmla="val 3532"/>
            </a:avLst>
          </a:prstGeom>
          <a:solidFill>
            <a:srgbClr val="F2F6FC"/>
          </a:solidFill>
          <a:ln w="12700">
            <a:solidFill>
              <a:srgbClr val="DDE2E9"/>
            </a:solidFill>
          </a:ln>
        </p:spPr>
        <p:txBody>
          <a:bodyPr wrap="square" rtlCol="0" anchor="ctr"/>
          <a:lstStyle/>
          <a:p>
            <a:pPr indent="0" marL="0">
              <a:buNone/>
            </a:pPr>
            <a:endParaRPr lang="en-US" dirty="0"/>
          </a:p>
        </p:txBody>
      </p:sp>
      <p:sp>
        <p:nvSpPr>
          <p:cNvPr id="11" name="Text 9"/>
          <p:cNvSpPr/>
          <p:nvPr/>
        </p:nvSpPr>
        <p:spPr>
          <a:xfrm>
            <a:off x="6510528" y="1929384"/>
            <a:ext cx="4754880" cy="502920"/>
          </a:xfrm>
          <a:prstGeom prst="rect">
            <a:avLst/>
          </a:prstGeom>
          <a:noFill/>
          <a:ln/>
        </p:spPr>
        <p:txBody>
          <a:bodyPr wrap="square" lIns="0" tIns="0" rIns="0" bIns="0" rtlCol="0" anchor="ctr"/>
          <a:lstStyle/>
          <a:p>
            <a:pPr indent="0" marL="0">
              <a:buNone/>
            </a:pPr>
            <a:r>
              <a:rPr lang="en-US" sz="2700" b="1" dirty="0">
                <a:solidFill>
                  <a:srgbClr val="16355F"/>
                </a:solidFill>
                <a:latin typeface="Arial" pitchFamily="34" charset="0"/>
                <a:ea typeface="Arial" pitchFamily="34" charset="-122"/>
                <a:cs typeface="Arial" pitchFamily="34" charset="-120"/>
              </a:rPr>
              <a:t>~20 hrs</a:t>
            </a:r>
            <a:endParaRPr lang="en-US" sz="2700" dirty="0"/>
          </a:p>
        </p:txBody>
      </p:sp>
      <p:sp>
        <p:nvSpPr>
          <p:cNvPr id="12" name="Text 10"/>
          <p:cNvSpPr/>
          <p:nvPr/>
        </p:nvSpPr>
        <p:spPr>
          <a:xfrm>
            <a:off x="6510528" y="2441448"/>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Change Requests</a:t>
            </a:r>
            <a:endParaRPr lang="en-US" sz="1450" dirty="0"/>
          </a:p>
        </p:txBody>
      </p:sp>
      <p:sp>
        <p:nvSpPr>
          <p:cNvPr id="13" name="Text 11"/>
          <p:cNvSpPr/>
          <p:nvPr/>
        </p:nvSpPr>
        <p:spPr>
          <a:xfrm>
            <a:off x="6510528" y="2752344"/>
            <a:ext cx="4754880" cy="749808"/>
          </a:xfrm>
          <a:prstGeom prst="rect">
            <a:avLst/>
          </a:prstGeom>
          <a:noFill/>
          <a:ln/>
        </p:spPr>
        <p:txBody>
          <a:bodyPr wrap="square" lIns="0" tIns="0" rIns="0" bIns="0" rtlCol="0" anchor="t"/>
          <a:lstStyle/>
          <a:p>
            <a:pPr indent="0" marL="0">
              <a:lnSpc>
                <a:spcPct val="115000"/>
              </a:lnSpc>
              <a:buNone/>
            </a:pPr>
            <a:r>
              <a:rPr lang="en-US" sz="1150" dirty="0">
                <a:solidFill>
                  <a:srgbClr val="3A4354"/>
                </a:solidFill>
                <a:latin typeface="Arial" pitchFamily="34" charset="0"/>
                <a:ea typeface="Arial" pitchFamily="34" charset="-122"/>
                <a:cs typeface="Arial" pitchFamily="34" charset="-120"/>
              </a:rPr>
              <a:t>Around 150 requests, each requiring about eight minutes of repetitive manual processing. The tool added the analysis outcome, labels, and a comment directly in Jira.</a:t>
            </a:r>
            <a:endParaRPr lang="en-US" sz="1150" dirty="0"/>
          </a:p>
        </p:txBody>
      </p:sp>
      <p:sp>
        <p:nvSpPr>
          <p:cNvPr id="14" name="Text 12"/>
          <p:cNvSpPr/>
          <p:nvPr/>
        </p:nvSpPr>
        <p:spPr>
          <a:xfrm>
            <a:off x="6510528" y="3520440"/>
            <a:ext cx="320040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DASHBOARD</a:t>
            </a:r>
            <a:endParaRPr lang="en-US" sz="850" dirty="0"/>
          </a:p>
        </p:txBody>
      </p:sp>
      <p:sp>
        <p:nvSpPr>
          <p:cNvPr id="15" name="Text 13"/>
          <p:cNvSpPr/>
          <p:nvPr/>
        </p:nvSpPr>
        <p:spPr>
          <a:xfrm>
            <a:off x="658368" y="4114800"/>
            <a:ext cx="5303520" cy="2148840"/>
          </a:xfrm>
          <a:prstGeom prst="roundRect">
            <a:avLst>
              <a:gd name="adj" fmla="val 3532"/>
            </a:avLst>
          </a:prstGeom>
          <a:solidFill>
            <a:srgbClr val="F2F6FC"/>
          </a:solidFill>
          <a:ln w="12700">
            <a:solidFill>
              <a:srgbClr val="DDE2E9"/>
            </a:solidFill>
          </a:ln>
        </p:spPr>
        <p:txBody>
          <a:bodyPr wrap="square" rtlCol="0" anchor="ctr"/>
          <a:lstStyle/>
          <a:p>
            <a:pPr indent="0" marL="0">
              <a:buNone/>
            </a:pPr>
            <a:endParaRPr lang="en-US" dirty="0"/>
          </a:p>
        </p:txBody>
      </p:sp>
      <p:sp>
        <p:nvSpPr>
          <p:cNvPr id="16" name="Text 14"/>
          <p:cNvSpPr/>
          <p:nvPr/>
        </p:nvSpPr>
        <p:spPr>
          <a:xfrm>
            <a:off x="932688" y="4261104"/>
            <a:ext cx="4754880" cy="502920"/>
          </a:xfrm>
          <a:prstGeom prst="rect">
            <a:avLst/>
          </a:prstGeom>
          <a:noFill/>
          <a:ln/>
        </p:spPr>
        <p:txBody>
          <a:bodyPr wrap="square" lIns="0" tIns="0" rIns="0" bIns="0" rtlCol="0" anchor="ctr"/>
          <a:lstStyle/>
          <a:p>
            <a:pPr indent="0" marL="0">
              <a:buNone/>
            </a:pPr>
            <a:r>
              <a:rPr lang="en-US" sz="2700" b="1" dirty="0">
                <a:solidFill>
                  <a:srgbClr val="16355F"/>
                </a:solidFill>
                <a:latin typeface="Arial" pitchFamily="34" charset="0"/>
                <a:ea typeface="Arial" pitchFamily="34" charset="-122"/>
                <a:cs typeface="Arial" pitchFamily="34" charset="-120"/>
              </a:rPr>
              <a:t>3 days → 4 hrs</a:t>
            </a:r>
            <a:endParaRPr lang="en-US" sz="2700" dirty="0"/>
          </a:p>
        </p:txBody>
      </p:sp>
      <p:sp>
        <p:nvSpPr>
          <p:cNvPr id="17" name="Text 15"/>
          <p:cNvSpPr/>
          <p:nvPr/>
        </p:nvSpPr>
        <p:spPr>
          <a:xfrm>
            <a:off x="932688" y="4773168"/>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Delivery Reports</a:t>
            </a:r>
            <a:endParaRPr lang="en-US" sz="1450" dirty="0"/>
          </a:p>
        </p:txBody>
      </p:sp>
      <p:sp>
        <p:nvSpPr>
          <p:cNvPr id="18" name="Text 16"/>
          <p:cNvSpPr/>
          <p:nvPr/>
        </p:nvSpPr>
        <p:spPr>
          <a:xfrm>
            <a:off x="932688" y="5084064"/>
            <a:ext cx="4754880" cy="749808"/>
          </a:xfrm>
          <a:prstGeom prst="rect">
            <a:avLst/>
          </a:prstGeom>
          <a:noFill/>
          <a:ln/>
        </p:spPr>
        <p:txBody>
          <a:bodyPr wrap="square" lIns="0" tIns="0" rIns="0" bIns="0" rtlCol="0" anchor="t"/>
          <a:lstStyle/>
          <a:p>
            <a:pPr indent="0" marL="0">
              <a:lnSpc>
                <a:spcPct val="115000"/>
              </a:lnSpc>
              <a:buNone/>
            </a:pPr>
            <a:r>
              <a:rPr lang="en-US" sz="1150" dirty="0">
                <a:solidFill>
                  <a:srgbClr val="3A4354"/>
                </a:solidFill>
                <a:latin typeface="Arial" pitchFamily="34" charset="0"/>
                <a:ea typeface="Arial" pitchFamily="34" charset="-122"/>
                <a:cs typeface="Arial" pitchFamily="34" charset="-120"/>
              </a:rPr>
              <a:t>The report covered statuses, schedule changes and their reasons, and blockers. It was produced in four hours instead of three days of manual work.</a:t>
            </a:r>
            <a:endParaRPr lang="en-US" sz="1150" dirty="0"/>
          </a:p>
        </p:txBody>
      </p:sp>
      <p:sp>
        <p:nvSpPr>
          <p:cNvPr id="19" name="Text 17"/>
          <p:cNvSpPr/>
          <p:nvPr/>
        </p:nvSpPr>
        <p:spPr>
          <a:xfrm>
            <a:off x="932688" y="5852160"/>
            <a:ext cx="320040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EXCEL REPORTS</a:t>
            </a:r>
            <a:endParaRPr lang="en-US" sz="850" dirty="0"/>
          </a:p>
        </p:txBody>
      </p:sp>
      <p:sp>
        <p:nvSpPr>
          <p:cNvPr id="20" name="Text 18"/>
          <p:cNvSpPr/>
          <p:nvPr/>
        </p:nvSpPr>
        <p:spPr>
          <a:xfrm>
            <a:off x="6236208" y="4114800"/>
            <a:ext cx="5303520" cy="2148840"/>
          </a:xfrm>
          <a:prstGeom prst="roundRect">
            <a:avLst>
              <a:gd name="adj" fmla="val 3532"/>
            </a:avLst>
          </a:prstGeom>
          <a:solidFill>
            <a:srgbClr val="F2F6FC"/>
          </a:solidFill>
          <a:ln w="12700">
            <a:solidFill>
              <a:srgbClr val="DDE2E9"/>
            </a:solidFill>
          </a:ln>
        </p:spPr>
        <p:txBody>
          <a:bodyPr wrap="square" rtlCol="0" anchor="ctr"/>
          <a:lstStyle/>
          <a:p>
            <a:pPr indent="0" marL="0">
              <a:buNone/>
            </a:pPr>
            <a:endParaRPr lang="en-US" dirty="0"/>
          </a:p>
        </p:txBody>
      </p:sp>
      <p:sp>
        <p:nvSpPr>
          <p:cNvPr id="21" name="Text 19"/>
          <p:cNvSpPr/>
          <p:nvPr/>
        </p:nvSpPr>
        <p:spPr>
          <a:xfrm>
            <a:off x="6510528" y="4261104"/>
            <a:ext cx="4754880" cy="502920"/>
          </a:xfrm>
          <a:prstGeom prst="rect">
            <a:avLst/>
          </a:prstGeom>
          <a:noFill/>
          <a:ln/>
        </p:spPr>
        <p:txBody>
          <a:bodyPr wrap="square" lIns="0" tIns="0" rIns="0" bIns="0" rtlCol="0" anchor="ctr"/>
          <a:lstStyle/>
          <a:p>
            <a:pPr indent="0" marL="0">
              <a:buNone/>
            </a:pPr>
            <a:r>
              <a:rPr lang="en-US" sz="2700" b="1" dirty="0">
                <a:solidFill>
                  <a:srgbClr val="16355F"/>
                </a:solidFill>
                <a:latin typeface="Arial" pitchFamily="34" charset="0"/>
                <a:ea typeface="Arial" pitchFamily="34" charset="-122"/>
                <a:cs typeface="Arial" pitchFamily="34" charset="-120"/>
              </a:rPr>
              <a:t>MVP</a:t>
            </a:r>
            <a:endParaRPr lang="en-US" sz="2700" dirty="0"/>
          </a:p>
        </p:txBody>
      </p:sp>
      <p:sp>
        <p:nvSpPr>
          <p:cNvPr id="22" name="Text 20"/>
          <p:cNvSpPr/>
          <p:nvPr/>
        </p:nvSpPr>
        <p:spPr>
          <a:xfrm>
            <a:off x="6510528" y="4773168"/>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Configuration Language</a:t>
            </a:r>
            <a:endParaRPr lang="en-US" sz="1450" dirty="0"/>
          </a:p>
        </p:txBody>
      </p:sp>
      <p:sp>
        <p:nvSpPr>
          <p:cNvPr id="23" name="Text 21"/>
          <p:cNvSpPr/>
          <p:nvPr/>
        </p:nvSpPr>
        <p:spPr>
          <a:xfrm>
            <a:off x="6510528" y="5084064"/>
            <a:ext cx="4754880" cy="749808"/>
          </a:xfrm>
          <a:prstGeom prst="rect">
            <a:avLst/>
          </a:prstGeom>
          <a:noFill/>
          <a:ln/>
        </p:spPr>
        <p:txBody>
          <a:bodyPr wrap="square" lIns="0" tIns="0" rIns="0" bIns="0" rtlCol="0" anchor="t"/>
          <a:lstStyle/>
          <a:p>
            <a:pPr indent="0" marL="0">
              <a:lnSpc>
                <a:spcPct val="115000"/>
              </a:lnSpc>
              <a:buNone/>
            </a:pPr>
            <a:r>
              <a:rPr lang="en-US" sz="1150" dirty="0">
                <a:solidFill>
                  <a:srgbClr val="3A4354"/>
                </a:solidFill>
                <a:latin typeface="Arial" pitchFamily="34" charset="0"/>
                <a:ea typeface="Arial" pitchFamily="34" charset="-122"/>
                <a:cs typeface="Arial" pitchFamily="34" charset="-120"/>
              </a:rPr>
              <a:t>The MVP translated expressions from the low-code platform's configuration language into plain language. The project was closed before rollout.</a:t>
            </a:r>
            <a:endParaRPr lang="en-US" sz="1150" dirty="0"/>
          </a:p>
        </p:txBody>
      </p:sp>
      <p:sp>
        <p:nvSpPr>
          <p:cNvPr id="24" name="Text 22"/>
          <p:cNvSpPr/>
          <p:nvPr/>
        </p:nvSpPr>
        <p:spPr>
          <a:xfrm>
            <a:off x="6510528" y="5852160"/>
            <a:ext cx="3200400" cy="329184"/>
          </a:xfrm>
          <a:prstGeom prst="roundRect">
            <a:avLst>
              <a:gd name="adj" fmla="val 41667"/>
            </a:avLst>
          </a:prstGeom>
          <a:solidFill>
            <a:srgbClr val="EEF1F5"/>
          </a:solidFill>
          <a:ln/>
        </p:spPr>
        <p:txBody>
          <a:bodyPr wrap="square" lIns="0" tIns="0" rIns="0" bIns="0" rtlCol="0" anchor="ctr"/>
          <a:lstStyle/>
          <a:p>
            <a:pPr algn="ctr" indent="0" marL="0">
              <a:buNone/>
            </a:pPr>
            <a:r>
              <a:rPr lang="en-US" sz="850" b="1" spc="120" kern="0" dirty="0">
                <a:solidFill>
                  <a:srgbClr val="6B7280"/>
                </a:solidFill>
                <a:latin typeface="Arial" pitchFamily="34" charset="0"/>
                <a:ea typeface="Arial" pitchFamily="34" charset="-122"/>
                <a:cs typeface="Arial" pitchFamily="34" charset="-120"/>
              </a:rPr>
              <a:t>AGENTIC WORKFLOW</a:t>
            </a:r>
            <a:endParaRPr lang="en-US" sz="850" dirty="0"/>
          </a:p>
        </p:txBody>
      </p:sp>
      <p:sp>
        <p:nvSpPr>
          <p:cNvPr id="25" name="Text 23"/>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7</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15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6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par>
                    <p:cTn id="63" fill="hold">
                      <p:stCondLst>
                        <p:cond delay="18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par>
                    <p:cTn id="67" fill="hold">
                      <p:stCondLst>
                        <p:cond delay="19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childTnLst>
                    </p:cTn>
                  </p:par>
                  <p:par>
                    <p:cTn id="71" fill="hold">
                      <p:stCondLst>
                        <p:cond delay="204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childTnLst>
                    </p:cTn>
                  </p:par>
                  <p:par>
                    <p:cTn id="75" fill="hold">
                      <p:stCondLst>
                        <p:cond delay="216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par>
                    <p:cTn id="79" fill="hold">
                      <p:stCondLst>
                        <p:cond delay="228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par>
                    <p:cTn id="83" fill="hold">
                      <p:stCondLst>
                        <p:cond delay="240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par>
                    <p:cTn id="87" fill="hold">
                      <p:stCondLst>
                        <p:cond delay="252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childTnLst>
                          </p:cTn>
                        </p:par>
                      </p:childTnLst>
                    </p:cTn>
                  </p:par>
                  <p:par>
                    <p:cTn id="91" fill="hold">
                      <p:stCondLst>
                        <p:cond delay="2640"/>
                      </p:stCondLst>
                      <p:childTnLst>
                        <p:par>
                          <p:cTn id="92" presetID="10" presetClass="entr" presetSubtype="0" fill="hold"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childTnLst>
                          </p:cTn>
                        </p:par>
                      </p:childTnLst>
                    </p:cTn>
                  </p:par>
                  <p:par>
                    <p:cTn id="95" fill="hold">
                      <p:stCondLst>
                        <p:cond delay="2760"/>
                      </p:stCondLst>
                      <p:childTnLst>
                        <p:par>
                          <p:cTn id="96" presetID="10" presetClass="entr" presetSubtype="0"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r>
              <a:rPr lang="en-US" sz="1300" dirty="0">
                <a:solidFill>
                  <a:srgbClr val="6B7280"/>
                </a:solidFill>
                <a:latin typeface="Arial" pitchFamily="34" charset="0"/>
                <a:ea typeface="Arial" pitchFamily="34" charset="-122"/>
                <a:cs typeface="Arial" pitchFamily="34" charset="-120"/>
              </a:rPr>
              <a:t>Method</a:t>
            </a:r>
            <a:endParaRPr lang="en-US" sz="1300" dirty="0"/>
          </a:p>
        </p:txBody>
      </p:sp>
      <p:sp>
        <p:nvSpPr>
          <p:cNvPr id="4" name="Text 2"/>
          <p:cNvSpPr/>
          <p:nvPr/>
        </p:nvSpPr>
        <p:spPr>
          <a:xfrm>
            <a:off x="658368" y="868680"/>
            <a:ext cx="10872216" cy="54864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Principles for Developing Automation Tools</a:t>
            </a:r>
            <a:endParaRPr lang="en-US" sz="2900" dirty="0"/>
          </a:p>
        </p:txBody>
      </p:sp>
      <p:sp>
        <p:nvSpPr>
          <p:cNvPr id="5" name="Text 3"/>
          <p:cNvSpPr/>
          <p:nvPr/>
        </p:nvSpPr>
        <p:spPr>
          <a:xfrm>
            <a:off x="658368" y="1920240"/>
            <a:ext cx="420624" cy="420624"/>
          </a:xfrm>
          <a:prstGeom prst="roundRect">
            <a:avLst>
              <a:gd name="adj" fmla="val 15217"/>
            </a:avLst>
          </a:prstGeom>
          <a:solidFill>
            <a:srgbClr val="16355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6" name="Text 4"/>
          <p:cNvSpPr/>
          <p:nvPr/>
        </p:nvSpPr>
        <p:spPr>
          <a:xfrm>
            <a:off x="1261872" y="1901952"/>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Use Case Selection</a:t>
            </a:r>
            <a:endParaRPr lang="en-US" sz="1450" dirty="0"/>
          </a:p>
        </p:txBody>
      </p:sp>
      <p:sp>
        <p:nvSpPr>
          <p:cNvPr id="7" name="Text 5"/>
          <p:cNvSpPr/>
          <p:nvPr/>
        </p:nvSpPr>
        <p:spPr>
          <a:xfrm>
            <a:off x="1261872" y="2212848"/>
            <a:ext cx="4663440" cy="96012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Priority is given to simple, repetitive tasks carried out by many people.</a:t>
            </a:r>
            <a:endParaRPr lang="en-US" sz="1250" dirty="0"/>
          </a:p>
        </p:txBody>
      </p:sp>
      <p:sp>
        <p:nvSpPr>
          <p:cNvPr id="8" name="Text 6"/>
          <p:cNvSpPr/>
          <p:nvPr/>
        </p:nvSpPr>
        <p:spPr>
          <a:xfrm>
            <a:off x="6327648" y="1920240"/>
            <a:ext cx="420624" cy="420624"/>
          </a:xfrm>
          <a:prstGeom prst="roundRect">
            <a:avLst>
              <a:gd name="adj" fmla="val 15217"/>
            </a:avLst>
          </a:prstGeom>
          <a:solidFill>
            <a:srgbClr val="16355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9" name="Text 7"/>
          <p:cNvSpPr/>
          <p:nvPr/>
        </p:nvSpPr>
        <p:spPr>
          <a:xfrm>
            <a:off x="6931152" y="1901952"/>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Algorithm First</a:t>
            </a:r>
            <a:endParaRPr lang="en-US" sz="1450" dirty="0"/>
          </a:p>
        </p:txBody>
      </p:sp>
      <p:sp>
        <p:nvSpPr>
          <p:cNvPr id="10" name="Text 8"/>
          <p:cNvSpPr/>
          <p:nvPr/>
        </p:nvSpPr>
        <p:spPr>
          <a:xfrm>
            <a:off x="6931152" y="2212848"/>
            <a:ext cx="4663440" cy="96012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Clear rules are implemented as algorithms. An AI model is used only where interpretation is required.</a:t>
            </a:r>
            <a:endParaRPr lang="en-US" sz="1250" dirty="0"/>
          </a:p>
        </p:txBody>
      </p:sp>
      <p:sp>
        <p:nvSpPr>
          <p:cNvPr id="11" name="Text 9"/>
          <p:cNvSpPr/>
          <p:nvPr/>
        </p:nvSpPr>
        <p:spPr>
          <a:xfrm>
            <a:off x="658368" y="3401568"/>
            <a:ext cx="420624" cy="420624"/>
          </a:xfrm>
          <a:prstGeom prst="roundRect">
            <a:avLst>
              <a:gd name="adj" fmla="val 15217"/>
            </a:avLst>
          </a:prstGeom>
          <a:solidFill>
            <a:srgbClr val="16355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12" name="Text 10"/>
          <p:cNvSpPr/>
          <p:nvPr/>
        </p:nvSpPr>
        <p:spPr>
          <a:xfrm>
            <a:off x="1261872" y="3383280"/>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Data Stays Inside</a:t>
            </a:r>
            <a:endParaRPr lang="en-US" sz="1450" dirty="0"/>
          </a:p>
        </p:txBody>
      </p:sp>
      <p:sp>
        <p:nvSpPr>
          <p:cNvPr id="13" name="Text 11"/>
          <p:cNvSpPr/>
          <p:nvPr/>
        </p:nvSpPr>
        <p:spPr>
          <a:xfrm>
            <a:off x="1261872" y="3694176"/>
            <a:ext cx="4663440" cy="96012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Customer data is not sent to external AI services. Only code, not customer data, is used during development.</a:t>
            </a:r>
            <a:endParaRPr lang="en-US" sz="1250" dirty="0"/>
          </a:p>
        </p:txBody>
      </p:sp>
      <p:sp>
        <p:nvSpPr>
          <p:cNvPr id="14" name="Text 12"/>
          <p:cNvSpPr/>
          <p:nvPr/>
        </p:nvSpPr>
        <p:spPr>
          <a:xfrm>
            <a:off x="6327648" y="3401568"/>
            <a:ext cx="420624" cy="420624"/>
          </a:xfrm>
          <a:prstGeom prst="roundRect">
            <a:avLst>
              <a:gd name="adj" fmla="val 15217"/>
            </a:avLst>
          </a:prstGeom>
          <a:solidFill>
            <a:srgbClr val="16355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15" name="Text 13"/>
          <p:cNvSpPr/>
          <p:nvPr/>
        </p:nvSpPr>
        <p:spPr>
          <a:xfrm>
            <a:off x="6931152" y="3383280"/>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Cross-Validation</a:t>
            </a:r>
            <a:endParaRPr lang="en-US" sz="1450" dirty="0"/>
          </a:p>
        </p:txBody>
      </p:sp>
      <p:sp>
        <p:nvSpPr>
          <p:cNvPr id="16" name="Text 14"/>
          <p:cNvSpPr/>
          <p:nvPr/>
        </p:nvSpPr>
        <p:spPr>
          <a:xfrm>
            <a:off x="6931152" y="3694176"/>
            <a:ext cx="4663440" cy="96012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Code generated with Claude Code is checked with OpenAI Codex and then reviewed manually.</a:t>
            </a:r>
            <a:endParaRPr lang="en-US" sz="1250" dirty="0"/>
          </a:p>
        </p:txBody>
      </p:sp>
      <p:sp>
        <p:nvSpPr>
          <p:cNvPr id="17" name="Text 15"/>
          <p:cNvSpPr/>
          <p:nvPr/>
        </p:nvSpPr>
        <p:spPr>
          <a:xfrm>
            <a:off x="658368" y="4882896"/>
            <a:ext cx="420624" cy="420624"/>
          </a:xfrm>
          <a:prstGeom prst="roundRect">
            <a:avLst>
              <a:gd name="adj" fmla="val 15217"/>
            </a:avLst>
          </a:prstGeom>
          <a:solidFill>
            <a:srgbClr val="16355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18" name="Text 16"/>
          <p:cNvSpPr/>
          <p:nvPr/>
        </p:nvSpPr>
        <p:spPr>
          <a:xfrm>
            <a:off x="1261872" y="4864608"/>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No Additional Access</a:t>
            </a:r>
            <a:endParaRPr lang="en-US" sz="1450" dirty="0"/>
          </a:p>
        </p:txBody>
      </p:sp>
      <p:sp>
        <p:nvSpPr>
          <p:cNvPr id="19" name="Text 17"/>
          <p:cNvSpPr/>
          <p:nvPr/>
        </p:nvSpPr>
        <p:spPr>
          <a:xfrm>
            <a:off x="1261872" y="5175504"/>
            <a:ext cx="4663440" cy="96012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Tools operate only with the access rights already assigned to the user.</a:t>
            </a:r>
            <a:endParaRPr lang="en-US" sz="1250" dirty="0"/>
          </a:p>
        </p:txBody>
      </p:sp>
      <p:sp>
        <p:nvSpPr>
          <p:cNvPr id="20" name="Text 18"/>
          <p:cNvSpPr/>
          <p:nvPr/>
        </p:nvSpPr>
        <p:spPr>
          <a:xfrm>
            <a:off x="6327648" y="4882896"/>
            <a:ext cx="420624" cy="420624"/>
          </a:xfrm>
          <a:prstGeom prst="roundRect">
            <a:avLst>
              <a:gd name="adj" fmla="val 15217"/>
            </a:avLst>
          </a:prstGeom>
          <a:solidFill>
            <a:srgbClr val="16355F"/>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06</a:t>
            </a:r>
            <a:endParaRPr lang="en-US" sz="1300" dirty="0"/>
          </a:p>
        </p:txBody>
      </p:sp>
      <p:sp>
        <p:nvSpPr>
          <p:cNvPr id="21" name="Text 19"/>
          <p:cNvSpPr/>
          <p:nvPr/>
        </p:nvSpPr>
        <p:spPr>
          <a:xfrm>
            <a:off x="6931152" y="4864608"/>
            <a:ext cx="4754880" cy="310896"/>
          </a:xfrm>
          <a:prstGeom prst="rect">
            <a:avLst/>
          </a:prstGeom>
          <a:noFill/>
          <a:ln/>
        </p:spPr>
        <p:txBody>
          <a:bodyPr wrap="square" lIns="0" tIns="0" rIns="0" bIns="0" rtlCol="0" anchor="ctr"/>
          <a:lstStyle/>
          <a:p>
            <a:pPr indent="0" marL="0">
              <a:buNone/>
            </a:pPr>
            <a:r>
              <a:rPr lang="en-US" sz="1450" b="1" dirty="0">
                <a:solidFill>
                  <a:srgbClr val="1A2233"/>
                </a:solidFill>
                <a:latin typeface="Arial" pitchFamily="34" charset="0"/>
                <a:ea typeface="Arial" pitchFamily="34" charset="-122"/>
                <a:cs typeface="Arial" pitchFamily="34" charset="-120"/>
              </a:rPr>
              <a:t>Ownership and Evolution</a:t>
            </a:r>
            <a:endParaRPr lang="en-US" sz="1450" dirty="0"/>
          </a:p>
        </p:txBody>
      </p:sp>
      <p:sp>
        <p:nvSpPr>
          <p:cNvPr id="22" name="Text 20"/>
          <p:cNvSpPr/>
          <p:nvPr/>
        </p:nvSpPr>
        <p:spPr>
          <a:xfrm>
            <a:off x="6931152" y="5175504"/>
            <a:ext cx="4663440" cy="96012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Each tool and shared skill has a designated owner. Any team member can propose changes through Git. The owner reviews and approves changes. Shared skills are managed separately from tool code.</a:t>
            </a:r>
            <a:endParaRPr lang="en-US" sz="1250" dirty="0"/>
          </a:p>
        </p:txBody>
      </p:sp>
      <p:sp>
        <p:nvSpPr>
          <p:cNvPr id="23" name="Text 21"/>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8</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15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6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par>
                    <p:cTn id="63" fill="hold">
                      <p:stCondLst>
                        <p:cond delay="18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par>
                    <p:cTn id="67" fill="hold">
                      <p:stCondLst>
                        <p:cond delay="19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childTnLst>
                    </p:cTn>
                  </p:par>
                  <p:par>
                    <p:cTn id="71" fill="hold">
                      <p:stCondLst>
                        <p:cond delay="204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childTnLst>
                    </p:cTn>
                  </p:par>
                  <p:par>
                    <p:cTn id="75" fill="hold">
                      <p:stCondLst>
                        <p:cond delay="216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par>
                    <p:cTn id="79" fill="hold">
                      <p:stCondLst>
                        <p:cond delay="2280"/>
                      </p:stCondLst>
                      <p:childTnLst>
                        <p:par>
                          <p:cTn id="80" presetID="10" presetClass="entr" presetSubtype="0" fill="hold"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par>
                    <p:cTn id="83" fill="hold">
                      <p:stCondLst>
                        <p:cond delay="2400"/>
                      </p:stCondLst>
                      <p:childTnLst>
                        <p:par>
                          <p:cTn id="84" presetID="10" presetClass="entr" presetSubtype="0"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par>
                    <p:cTn id="87" fill="hold">
                      <p:stCondLst>
                        <p:cond delay="2520"/>
                      </p:stCondLst>
                      <p:childTnLst>
                        <p:par>
                          <p:cTn id="88" presetID="10" presetClass="entr" presetSubtype="0" fill="hold" nodeType="after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8368" y="384048"/>
            <a:ext cx="7315200" cy="310896"/>
          </a:xfrm>
          <a:prstGeom prst="rect">
            <a:avLst/>
          </a:prstGeom>
          <a:noFill/>
          <a:ln/>
        </p:spPr>
        <p:txBody>
          <a:bodyPr wrap="square" lIns="0" tIns="0" rIns="0" bIns="0" rtlCol="0" anchor="ctr"/>
          <a:lstStyle/>
          <a:p>
            <a:pPr indent="0" marL="0">
              <a:buNone/>
            </a:pPr>
            <a:r>
              <a:rPr lang="en-US" sz="1300" b="1" dirty="0">
                <a:solidFill>
                  <a:srgbClr val="1A2233"/>
                </a:solidFill>
                <a:latin typeface="Arial" pitchFamily="34" charset="0"/>
                <a:ea typeface="Arial" pitchFamily="34" charset="-122"/>
                <a:cs typeface="Arial" pitchFamily="34" charset="-120"/>
              </a:rPr>
              <a:t>Natalia Kosovarova</a:t>
            </a:r>
            <a:pPr indent="0" marL="0">
              <a:buNone/>
            </a:pPr>
            <a:r>
              <a:rPr lang="en-US" sz="1300" dirty="0">
                <a:solidFill>
                  <a:srgbClr val="6B7280"/>
                </a:solidFill>
                <a:latin typeface="Arial" pitchFamily="34" charset="0"/>
                <a:ea typeface="Arial" pitchFamily="34" charset="-122"/>
                <a:cs typeface="Arial" pitchFamily="34" charset="-120"/>
              </a:rPr>
              <a:t> · AI Automation Portfolio</a:t>
            </a:r>
            <a:endParaRPr lang="en-US" sz="1300" dirty="0"/>
          </a:p>
        </p:txBody>
      </p:sp>
      <p:sp>
        <p:nvSpPr>
          <p:cNvPr id="3" name="Text 1"/>
          <p:cNvSpPr/>
          <p:nvPr/>
        </p:nvSpPr>
        <p:spPr>
          <a:xfrm>
            <a:off x="8778240" y="384048"/>
            <a:ext cx="2743200" cy="310896"/>
          </a:xfrm>
          <a:prstGeom prst="rect">
            <a:avLst/>
          </a:prstGeom>
          <a:noFill/>
          <a:ln/>
        </p:spPr>
        <p:txBody>
          <a:bodyPr wrap="square" lIns="0" tIns="0" rIns="0" bIns="0" rtlCol="0" anchor="ctr"/>
          <a:lstStyle/>
          <a:p>
            <a:pPr algn="r" indent="0" marL="0">
              <a:buNone/>
            </a:pPr>
            <a:endParaRPr lang="en-US" sz="1300" dirty="0"/>
          </a:p>
        </p:txBody>
      </p:sp>
      <p:sp>
        <p:nvSpPr>
          <p:cNvPr id="4" name="Text 2"/>
          <p:cNvSpPr/>
          <p:nvPr/>
        </p:nvSpPr>
        <p:spPr>
          <a:xfrm>
            <a:off x="658368" y="868680"/>
            <a:ext cx="10872216" cy="914400"/>
          </a:xfrm>
          <a:prstGeom prst="rect">
            <a:avLst/>
          </a:prstGeom>
          <a:noFill/>
          <a:ln/>
        </p:spPr>
        <p:txBody>
          <a:bodyPr wrap="square" lIns="0" tIns="0" rIns="0" bIns="0" rtlCol="0" anchor="t"/>
          <a:lstStyle/>
          <a:p>
            <a:pPr indent="0" marL="0">
              <a:lnSpc>
                <a:spcPct val="108000"/>
              </a:lnSpc>
              <a:buNone/>
            </a:pPr>
            <a:r>
              <a:rPr lang="en-US" sz="2900" b="1" dirty="0">
                <a:solidFill>
                  <a:srgbClr val="1A2233"/>
                </a:solidFill>
                <a:latin typeface="Arial" pitchFamily="34" charset="0"/>
                <a:ea typeface="Arial" pitchFamily="34" charset="-122"/>
                <a:cs typeface="Arial" pitchFamily="34" charset="-120"/>
              </a:rPr>
              <a:t>Personal Project: Telegram Assistant with an Open Architecture</a:t>
            </a:r>
            <a:endParaRPr lang="en-US" sz="2900" dirty="0"/>
          </a:p>
        </p:txBody>
      </p:sp>
      <p:sp>
        <p:nvSpPr>
          <p:cNvPr id="5" name="Text 3"/>
          <p:cNvSpPr/>
          <p:nvPr/>
        </p:nvSpPr>
        <p:spPr>
          <a:xfrm>
            <a:off x="658368" y="1965960"/>
            <a:ext cx="6309360" cy="960120"/>
          </a:xfrm>
          <a:prstGeom prst="roundRect">
            <a:avLst>
              <a:gd name="adj" fmla="val 7905"/>
            </a:avLst>
          </a:prstGeom>
          <a:solidFill>
            <a:srgbClr val="F2F6FC"/>
          </a:solidFill>
          <a:ln w="12700">
            <a:solidFill>
              <a:srgbClr val="DDE2E9"/>
            </a:solidFill>
          </a:ln>
        </p:spPr>
        <p:txBody>
          <a:bodyPr wrap="square" rtlCol="0" anchor="ctr"/>
          <a:lstStyle/>
          <a:p>
            <a:pPr indent="0" marL="0">
              <a:buNone/>
            </a:pPr>
            <a:endParaRPr lang="en-US" dirty="0"/>
          </a:p>
        </p:txBody>
      </p:sp>
      <p:sp>
        <p:nvSpPr>
          <p:cNvPr id="6" name="Text 4"/>
          <p:cNvSpPr/>
          <p:nvPr/>
        </p:nvSpPr>
        <p:spPr>
          <a:xfrm>
            <a:off x="877824" y="2093976"/>
            <a:ext cx="589788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What It Is</a:t>
            </a:r>
            <a:endParaRPr lang="en-US" sz="1400" dirty="0"/>
          </a:p>
        </p:txBody>
      </p:sp>
      <p:sp>
        <p:nvSpPr>
          <p:cNvPr id="7" name="Text 5"/>
          <p:cNvSpPr/>
          <p:nvPr/>
        </p:nvSpPr>
        <p:spPr>
          <a:xfrm>
            <a:off x="877824" y="2404872"/>
            <a:ext cx="5897880" cy="41148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An agentic system in Telegram for managing tasks and reminders, monitoring email, and tracking habits.</a:t>
            </a:r>
            <a:endParaRPr lang="en-US" sz="1250" dirty="0"/>
          </a:p>
        </p:txBody>
      </p:sp>
      <p:sp>
        <p:nvSpPr>
          <p:cNvPr id="8" name="Text 6"/>
          <p:cNvSpPr/>
          <p:nvPr/>
        </p:nvSpPr>
        <p:spPr>
          <a:xfrm>
            <a:off x="658368" y="3054096"/>
            <a:ext cx="6309360" cy="1143000"/>
          </a:xfrm>
          <a:prstGeom prst="roundRect">
            <a:avLst>
              <a:gd name="adj" fmla="val 6640"/>
            </a:avLst>
          </a:prstGeom>
          <a:solidFill>
            <a:srgbClr val="F2F6FC"/>
          </a:solidFill>
          <a:ln w="12700">
            <a:solidFill>
              <a:srgbClr val="DDE2E9"/>
            </a:solidFill>
          </a:ln>
        </p:spPr>
        <p:txBody>
          <a:bodyPr wrap="square" rtlCol="0" anchor="ctr"/>
          <a:lstStyle/>
          <a:p>
            <a:pPr indent="0" marL="0">
              <a:buNone/>
            </a:pPr>
            <a:endParaRPr lang="en-US" dirty="0"/>
          </a:p>
        </p:txBody>
      </p:sp>
      <p:sp>
        <p:nvSpPr>
          <p:cNvPr id="9" name="Text 7"/>
          <p:cNvSpPr/>
          <p:nvPr/>
        </p:nvSpPr>
        <p:spPr>
          <a:xfrm>
            <a:off x="877824" y="3182112"/>
            <a:ext cx="589788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Changes via Chat</a:t>
            </a:r>
            <a:endParaRPr lang="en-US" sz="1400" dirty="0"/>
          </a:p>
        </p:txBody>
      </p:sp>
      <p:sp>
        <p:nvSpPr>
          <p:cNvPr id="10" name="Text 8"/>
          <p:cNvSpPr/>
          <p:nvPr/>
        </p:nvSpPr>
        <p:spPr>
          <a:xfrm>
            <a:off x="877824" y="3493008"/>
            <a:ext cx="5897880" cy="594360"/>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The same Telegram chat can be used to request changes to the assistant itself. Claude Code turns the request into a code change, applies it, and restarts the assistant. The new capability becomes available in the chat immediately.</a:t>
            </a:r>
            <a:endParaRPr lang="en-US" sz="1250" dirty="0"/>
          </a:p>
        </p:txBody>
      </p:sp>
      <p:sp>
        <p:nvSpPr>
          <p:cNvPr id="11" name="Text 9"/>
          <p:cNvSpPr/>
          <p:nvPr/>
        </p:nvSpPr>
        <p:spPr>
          <a:xfrm>
            <a:off x="658368" y="4325112"/>
            <a:ext cx="6309360" cy="1335024"/>
          </a:xfrm>
          <a:prstGeom prst="roundRect">
            <a:avLst>
              <a:gd name="adj" fmla="val 5685"/>
            </a:avLst>
          </a:prstGeom>
          <a:solidFill>
            <a:srgbClr val="F2F6FC"/>
          </a:solidFill>
          <a:ln w="12700">
            <a:solidFill>
              <a:srgbClr val="DDE2E9"/>
            </a:solidFill>
          </a:ln>
        </p:spPr>
        <p:txBody>
          <a:bodyPr wrap="square" rtlCol="0" anchor="ctr"/>
          <a:lstStyle/>
          <a:p>
            <a:pPr indent="0" marL="0">
              <a:buNone/>
            </a:pPr>
            <a:endParaRPr lang="en-US" dirty="0"/>
          </a:p>
        </p:txBody>
      </p:sp>
      <p:sp>
        <p:nvSpPr>
          <p:cNvPr id="12" name="Text 10"/>
          <p:cNvSpPr/>
          <p:nvPr/>
        </p:nvSpPr>
        <p:spPr>
          <a:xfrm>
            <a:off x="877824" y="4453128"/>
            <a:ext cx="5897880" cy="292608"/>
          </a:xfrm>
          <a:prstGeom prst="rect">
            <a:avLst/>
          </a:prstGeom>
          <a:noFill/>
          <a:ln/>
        </p:spPr>
        <p:txBody>
          <a:bodyPr wrap="square" lIns="0" tIns="0" rIns="0" bIns="0" rtlCol="0" anchor="ctr"/>
          <a:lstStyle/>
          <a:p>
            <a:pPr indent="0" marL="0">
              <a:buNone/>
            </a:pPr>
            <a:r>
              <a:rPr lang="en-US" sz="1400" b="1" dirty="0">
                <a:solidFill>
                  <a:srgbClr val="16355F"/>
                </a:solidFill>
                <a:latin typeface="Arial" pitchFamily="34" charset="0"/>
                <a:ea typeface="Arial" pitchFamily="34" charset="-122"/>
                <a:cs typeface="Arial" pitchFamily="34" charset="-120"/>
              </a:rPr>
              <a:t>Architecture</a:t>
            </a:r>
            <a:endParaRPr lang="en-US" sz="1400" dirty="0"/>
          </a:p>
        </p:txBody>
      </p:sp>
      <p:sp>
        <p:nvSpPr>
          <p:cNvPr id="13" name="Text 11"/>
          <p:cNvSpPr/>
          <p:nvPr/>
        </p:nvSpPr>
        <p:spPr>
          <a:xfrm>
            <a:off x="877824" y="4764024"/>
            <a:ext cx="5897880" cy="786384"/>
          </a:xfrm>
          <a:prstGeom prst="rect">
            <a:avLst/>
          </a:prstGeom>
          <a:noFill/>
          <a:ln/>
        </p:spPr>
        <p:txBody>
          <a:bodyPr wrap="square" lIns="0" tIns="0" rIns="0" bIns="0" rtlCol="0" anchor="t"/>
          <a:lstStyle/>
          <a:p>
            <a:pPr indent="0" marL="0">
              <a:lnSpc>
                <a:spcPct val="118000"/>
              </a:lnSpc>
              <a:buNone/>
            </a:pPr>
            <a:r>
              <a:rPr lang="en-US" sz="1250" dirty="0">
                <a:solidFill>
                  <a:srgbClr val="3A4354"/>
                </a:solidFill>
                <a:latin typeface="Arial" pitchFamily="34" charset="0"/>
                <a:ea typeface="Arial" pitchFamily="34" charset="-122"/>
                <a:cs typeface="Arial" pitchFamily="34" charset="-120"/>
              </a:rPr>
              <a:t>The assistant is deployed on a VPS and uses the Anthropic API. Agents are separated by role and permissions, secrets are stored in a secrets manager, and data is kept in an encrypted SQLite database. Irreversible actions require explicit confirmation in Telegram.</a:t>
            </a:r>
            <a:endParaRPr lang="en-US" sz="1250" dirty="0"/>
          </a:p>
        </p:txBody>
      </p:sp>
      <p:sp>
        <p:nvSpPr>
          <p:cNvPr id="14" name="Text 12"/>
          <p:cNvSpPr/>
          <p:nvPr/>
        </p:nvSpPr>
        <p:spPr>
          <a:xfrm>
            <a:off x="7589520" y="1965960"/>
            <a:ext cx="3931920" cy="1737360"/>
          </a:xfrm>
          <a:prstGeom prst="roundRect">
            <a:avLst>
              <a:gd name="adj" fmla="val 4368"/>
            </a:avLst>
          </a:prstGeom>
          <a:solidFill>
            <a:srgbClr val="E7EFFC"/>
          </a:solidFill>
          <a:ln w="12700">
            <a:solidFill>
              <a:srgbClr val="DDE2E9"/>
            </a:solidFill>
          </a:ln>
          <a:effectLst>
            <a:outerShdw sx="100000" sy="100000" kx="0" ky="0" algn="bl" rotWithShape="0" blurRad="127000" dist="38100" dir="5400000">
              <a:srgbClr val="16355F">
                <a:alpha val="12000"/>
              </a:srgbClr>
            </a:outerShdw>
          </a:effectLst>
        </p:spPr>
        <p:txBody>
          <a:bodyPr wrap="square" rtlCol="0" anchor="ctr"/>
          <a:lstStyle/>
          <a:p>
            <a:pPr indent="0" marL="0">
              <a:buNone/>
            </a:pPr>
            <a:endParaRPr lang="en-US" dirty="0"/>
          </a:p>
        </p:txBody>
      </p:sp>
      <p:sp>
        <p:nvSpPr>
          <p:cNvPr id="15" name="Text 13"/>
          <p:cNvSpPr/>
          <p:nvPr/>
        </p:nvSpPr>
        <p:spPr>
          <a:xfrm>
            <a:off x="7772400" y="2176272"/>
            <a:ext cx="3566160" cy="292608"/>
          </a:xfrm>
          <a:prstGeom prst="rect">
            <a:avLst/>
          </a:prstGeom>
          <a:noFill/>
          <a:ln/>
        </p:spPr>
        <p:txBody>
          <a:bodyPr wrap="square" lIns="0" tIns="0" rIns="0" bIns="0" rtlCol="0" anchor="ctr"/>
          <a:lstStyle/>
          <a:p>
            <a:pPr indent="0" marL="0">
              <a:buNone/>
            </a:pPr>
            <a:r>
              <a:rPr lang="en-US" sz="1200" b="1" spc="200" kern="0" dirty="0">
                <a:solidFill>
                  <a:srgbClr val="6B7280"/>
                </a:solidFill>
                <a:latin typeface="Arial" pitchFamily="34" charset="0"/>
                <a:ea typeface="Arial" pitchFamily="34" charset="-122"/>
                <a:cs typeface="Arial" pitchFamily="34" charset="-120"/>
                <a:hlinkClick r:id="rId6"/>
              </a:rPr>
              <a:t>VIEW PROJECT</a:t>
            </a:r>
            <a:endParaRPr lang="en-US" sz="1200" dirty="0"/>
          </a:p>
        </p:txBody>
      </p:sp>
      <p:sp>
        <p:nvSpPr>
          <p:cNvPr id="16" name="Text 14"/>
          <p:cNvSpPr/>
          <p:nvPr/>
        </p:nvSpPr>
        <p:spPr>
          <a:xfrm>
            <a:off x="7772400" y="2523744"/>
            <a:ext cx="3566160" cy="310896"/>
          </a:xfrm>
          <a:prstGeom prst="rect">
            <a:avLst/>
          </a:prstGeom>
          <a:noFill/>
          <a:ln/>
        </p:spPr>
        <p:txBody>
          <a:bodyPr wrap="square" lIns="0" tIns="0" rIns="0" bIns="0" rtlCol="0" anchor="ctr"/>
          <a:lstStyle/>
          <a:p>
            <a:pPr indent="0" marL="0">
              <a:buNone/>
            </a:pPr>
            <a:r>
              <a:rPr lang="en-US" sz="1350" b="1" dirty="0">
                <a:solidFill>
                  <a:srgbClr val="1E5C97"/>
                </a:solidFill>
                <a:latin typeface="Arial" pitchFamily="34" charset="0"/>
                <a:ea typeface="Arial" pitchFamily="34" charset="-122"/>
                <a:cs typeface="Arial" pitchFamily="34" charset="-120"/>
                <a:hlinkClick r:id="rId3"/>
              </a:rPr>
              <a:t>github.com/nk-showcase/personal-ai-os</a:t>
            </a:r>
            <a:endParaRPr lang="en-US" sz="1350" dirty="0"/>
          </a:p>
        </p:txBody>
      </p:sp>
      <p:sp>
        <p:nvSpPr>
          <p:cNvPr id="17" name="Text 15"/>
          <p:cNvSpPr/>
          <p:nvPr/>
        </p:nvSpPr>
        <p:spPr>
          <a:xfrm>
            <a:off x="7772400" y="2926080"/>
            <a:ext cx="3566160" cy="365760"/>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Architecture diagram and documentation are available in the repository</a:t>
            </a:r>
            <a:endParaRPr lang="en-US" sz="1150" dirty="0"/>
          </a:p>
        </p:txBody>
      </p:sp>
      <p:sp>
        <p:nvSpPr>
          <p:cNvPr id="18" name="Text 16"/>
          <p:cNvSpPr/>
          <p:nvPr/>
        </p:nvSpPr>
        <p:spPr>
          <a:xfrm>
            <a:off x="7589520" y="3886200"/>
            <a:ext cx="3931920" cy="1682496"/>
          </a:xfrm>
          <a:prstGeom prst="roundRect">
            <a:avLst>
              <a:gd name="adj" fmla="val 4511"/>
            </a:avLst>
          </a:prstGeom>
          <a:solidFill>
            <a:srgbClr val="F2F6FC"/>
          </a:solidFill>
          <a:ln w="12700">
            <a:solidFill>
              <a:srgbClr val="DDE2E9"/>
            </a:solidFill>
          </a:ln>
        </p:spPr>
        <p:txBody>
          <a:bodyPr wrap="square" rtlCol="0" anchor="ctr"/>
          <a:lstStyle/>
          <a:p>
            <a:pPr indent="0" marL="0">
              <a:buNone/>
            </a:pPr>
            <a:endParaRPr lang="en-US" dirty="0"/>
          </a:p>
        </p:txBody>
      </p:sp>
      <p:sp>
        <p:nvSpPr>
          <p:cNvPr id="19" name="Text 17"/>
          <p:cNvSpPr/>
          <p:nvPr/>
        </p:nvSpPr>
        <p:spPr>
          <a:xfrm>
            <a:off x="7845552" y="3886200"/>
            <a:ext cx="3474720" cy="1682496"/>
          </a:xfrm>
          <a:prstGeom prst="rect">
            <a:avLst/>
          </a:prstGeom>
          <a:noFill/>
          <a:ln/>
        </p:spPr>
        <p:txBody>
          <a:bodyPr wrap="square" lIns="0" tIns="0" rIns="0" bIns="0" rtlCol="0" anchor="ctr"/>
          <a:lstStyle/>
          <a:p>
            <a:pPr indent="0" marL="0">
              <a:lnSpc>
                <a:spcPct val="150000"/>
              </a:lnSpc>
              <a:buNone/>
            </a:pPr>
            <a:r>
              <a:rPr lang="en-US" sz="1100" dirty="0">
                <a:solidFill>
                  <a:srgbClr val="6B7280"/>
                </a:solidFill>
                <a:latin typeface="Arial" pitchFamily="34" charset="0"/>
                <a:ea typeface="Arial" pitchFamily="34" charset="-122"/>
                <a:cs typeface="Arial" pitchFamily="34" charset="-120"/>
              </a:rPr>
              <a:t>I help business analysis teams work with clear processes, sound decisions, and less repetitive work.</a:t>
            </a:r>
            <a:endParaRPr lang="en-US" sz="1250" dirty="0"/>
          </a:p>
          <a:p>
            <a:pPr indent="0" marL="0">
              <a:lnSpc>
                <a:spcPct val="150000"/>
              </a:lnSpc>
              <a:buNone/>
            </a:pPr>
            <a:r>
              <a:rPr lang="en-US" sz="1500" b="1" dirty="0">
                <a:solidFill>
                  <a:srgbClr val="3A4354"/>
                </a:solidFill>
                <a:latin typeface="Arial" pitchFamily="34" charset="0"/>
                <a:ea typeface="Arial" pitchFamily="34" charset="-122"/>
                <a:cs typeface="Arial" pitchFamily="34" charset="-120"/>
              </a:rPr>
              <a:t>Natalia Kosovarova</a:t>
            </a:r>
            <a:endParaRPr lang="en-US" sz="1250" dirty="0"/>
          </a:p>
          <a:p>
            <a:pPr indent="0" marL="0">
              <a:lnSpc>
                <a:spcPct val="150000"/>
              </a:lnSpc>
              <a:buNone/>
            </a:pPr>
            <a:r>
              <a:rPr lang="en-US" sz="1250" dirty="0">
                <a:solidFill>
                  <a:srgbClr val="3A4354"/>
                </a:solidFill>
                <a:latin typeface="Arial" pitchFamily="34" charset="0"/>
                <a:ea typeface="Arial" pitchFamily="34" charset="-122"/>
                <a:cs typeface="Arial" pitchFamily="34" charset="-120"/>
                <a:hlinkClick r:id="rId5"/>
              </a:rPr>
              <a:t>natalia.kosovarova.work@gmail.com</a:t>
            </a:r>
            <a:endParaRPr lang="en-US" sz="1250" dirty="0"/>
          </a:p>
          <a:p>
            <a:pPr indent="0" marL="0">
              <a:lnSpc>
                <a:spcPct val="150000"/>
              </a:lnSpc>
              <a:buNone/>
            </a:pPr>
            <a:r>
              <a:rPr lang="en-US" sz="1250" dirty="0">
                <a:solidFill>
                  <a:srgbClr val="3A4354"/>
                </a:solidFill>
                <a:latin typeface="Arial" pitchFamily="34" charset="0"/>
                <a:ea typeface="Arial" pitchFamily="34" charset="-122"/>
                <a:cs typeface="Arial" pitchFamily="34" charset="-120"/>
                <a:hlinkClick r:id="rId4"/>
              </a:rPr>
              <a:t>linkedin.com/in/natalia-kosovarova</a:t>
            </a:r>
            <a:endParaRPr lang="en-US" sz="1250" dirty="0"/>
          </a:p>
        </p:txBody>
      </p:sp>
      <p:sp>
        <p:nvSpPr>
          <p:cNvPr id="20" name="Text 18"/>
          <p:cNvSpPr/>
          <p:nvPr/>
        </p:nvSpPr>
        <p:spPr>
          <a:xfrm>
            <a:off x="11155680"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9</a:t>
            </a:r>
            <a:endParaRPr lang="en-US" sz="1000" dirty="0"/>
          </a:p>
        </p:txBody>
      </p:sp>
    </p:spTree>
  </p:cSld>
  <p:clrMapOvr>
    <a:masterClrMapping/>
  </p:clrMapOvr>
  <p:transition xmlns:p="http://schemas.openxmlformats.org/presentationml/2006/main" spd="med">
    <p:fade/>
  </p:transition>
  <p:timing xmlns:p="http://schemas.openxmlformats.org/presentationml/2006/main">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7" fill="hold">
                      <p:stCondLst>
                        <p:cond delay="12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240"/>
                      </p:stCondLst>
                      <p:childTnLst>
                        <p:par>
                          <p:cTn id="12" presetID="1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par>
                    <p:cTn id="15" fill="hold">
                      <p:stCondLst>
                        <p:cond delay="360"/>
                      </p:stCondLst>
                      <p:childTnLst>
                        <p:par>
                          <p:cTn id="16" presetID="10"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48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6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72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84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96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8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200"/>
                      </p:stCondLst>
                      <p:childTnLst>
                        <p:par>
                          <p:cTn id="44" presetID="10" presetClass="entr" presetSubtype="0"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childTnLst>
                    </p:cTn>
                  </p:par>
                  <p:par>
                    <p:cTn id="47" fill="hold">
                      <p:stCondLst>
                        <p:cond delay="1320"/>
                      </p:stCondLst>
                      <p:childTnLst>
                        <p:par>
                          <p:cTn id="48" presetID="10" presetClass="entr" presetSubtype="0" fill="hold"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childTnLst>
                    </p:cTn>
                  </p:par>
                  <p:par>
                    <p:cTn id="51" fill="hold">
                      <p:stCondLst>
                        <p:cond delay="1440"/>
                      </p:stCondLst>
                      <p:childTnLst>
                        <p:par>
                          <p:cTn id="52" presetID="10" presetClass="entr" presetSubtype="0" fill="hold"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par>
                    <p:cTn id="55" fill="hold">
                      <p:stCondLst>
                        <p:cond delay="1560"/>
                      </p:stCondLst>
                      <p:childTnLst>
                        <p:par>
                          <p:cTn id="56" presetID="10" presetClass="entr" presetSubtype="0"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par>
                    <p:cTn id="59" fill="hold">
                      <p:stCondLst>
                        <p:cond delay="1680"/>
                      </p:stCondLst>
                      <p:childTnLst>
                        <p:par>
                          <p:cTn id="60" presetID="10" presetClass="entr" presetSubtype="0" fill="hold"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par>
                    <p:cTn id="63" fill="hold">
                      <p:stCondLst>
                        <p:cond delay="1800"/>
                      </p:stCondLst>
                      <p:childTnLst>
                        <p:par>
                          <p:cTn id="64" presetID="10" presetClass="entr" presetSubtype="0"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par>
                    <p:cTn id="67" fill="hold">
                      <p:stCondLst>
                        <p:cond delay="1920"/>
                      </p:stCondLst>
                      <p:childTnLst>
                        <p:par>
                          <p:cTn id="68" presetID="10" presetClass="entr" presetSubtype="0" fill="hold" nodeType="after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childTnLst>
                    </p:cTn>
                  </p:par>
                  <p:par>
                    <p:cTn id="71" fill="hold">
                      <p:stCondLst>
                        <p:cond delay="2040"/>
                      </p:stCondLst>
                      <p:childTnLst>
                        <p:par>
                          <p:cTn id="72" presetID="10" presetClass="entr" presetSubtype="0"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childTnLst>
                    </p:cTn>
                  </p:par>
                  <p:par>
                    <p:cTn id="75" fill="hold">
                      <p:stCondLst>
                        <p:cond delay="2160"/>
                      </p:stCondLst>
                      <p:childTnLst>
                        <p:par>
                          <p:cTn id="76" presetID="10" presetClass="entr" presetSubtype="0" fill="hold"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Automation Portfolio</dc:title>
  <dc:subject>PptxGenJS Presentation</dc:subject>
  <dc:creator>Natalia Kosovarova</dc:creator>
  <cp:lastModifiedBy>Natalia Kosovarova</cp:lastModifiedBy>
  <cp:revision>1</cp:revision>
  <dcterms:created xsi:type="dcterms:W3CDTF">2026-08-08T08:43:22Z</dcterms:created>
  <dcterms:modified xsi:type="dcterms:W3CDTF">2026-08-08T08:43:22Z</dcterms:modified>
</cp:coreProperties>
</file>